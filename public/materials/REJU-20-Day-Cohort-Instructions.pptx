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0B0C"/>
          </a:solidFill>
          <a:ln w="12700">
            <a:solidFill>
              <a:srgbClr val="0B0B0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C26B"/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2B1A12"/>
          </a:solidFill>
          <a:ln w="12700">
            <a:solidFill>
              <a:srgbClr val="2B1A1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0" y="-731520"/>
            <a:ext cx="2194560" cy="2194560"/>
          </a:xfrm>
          <a:prstGeom prst="ellipse">
            <a:avLst/>
          </a:prstGeom>
          <a:solidFill>
            <a:srgbClr val="F5C26B">
              <a:alpha val="12000"/>
            </a:srgbClr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-548640" y="3840480"/>
            <a:ext cx="1645920" cy="1645920"/>
          </a:xfrm>
          <a:prstGeom prst="ellipse">
            <a:avLst/>
          </a:prstGeom>
          <a:solidFill>
            <a:srgbClr val="6F5320">
              <a:alpha val="30000"/>
            </a:srgbClr>
          </a:solidFill>
          <a:ln w="12700">
            <a:solidFill>
              <a:srgbClr val="6F5320"/>
            </a:solidFill>
            <a:prstDash val="solid"/>
          </a:ln>
        </p:spPr>
      </p:sp>
      <p:pic>
        <p:nvPicPr>
          <p:cNvPr id="7" name="Image 0" descr="C:\Users\wifis\reju-site\public\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429000" y="502920"/>
            <a:ext cx="2286000" cy="9144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16002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400" kern="0" dirty="0">
                <a:solidFill>
                  <a:srgbClr val="F5C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REJU REJUVENATION EVENT™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201168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20-Day Cohort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Instructions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914400" y="33375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minutes a day. One transformation at a time.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457200" y="3977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</a:rPr>
              <a:t>Aligned with Kat's Legacy · REJU Protocol™ · Bolivia Health Course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2834640" y="4434840"/>
            <a:ext cx="3474720" cy="411480"/>
          </a:xfrm>
          <a:prstGeom prst="roundRect">
            <a:avLst>
              <a:gd name="adj" fmla="val 17778"/>
            </a:avLst>
          </a:prstGeom>
          <a:solidFill>
            <a:srgbClr val="120904"/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834640" y="44348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C26B"/>
                </a:solidFill>
              </a:rPr>
              <a:t>rejutkn.com/reju-event-materials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0B0C"/>
          </a:solidFill>
          <a:ln w="12700">
            <a:solidFill>
              <a:srgbClr val="0B0B0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C26B"/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2B1A12"/>
          </a:solidFill>
          <a:ln w="12700">
            <a:solidFill>
              <a:srgbClr val="2B1A1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0" y="-731520"/>
            <a:ext cx="2194560" cy="2194560"/>
          </a:xfrm>
          <a:prstGeom prst="ellipse">
            <a:avLst/>
          </a:prstGeom>
          <a:solidFill>
            <a:srgbClr val="F5C26B">
              <a:alpha val="12000"/>
            </a:srgbClr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-548640" y="3840480"/>
            <a:ext cx="1645920" cy="1645920"/>
          </a:xfrm>
          <a:prstGeom prst="ellipse">
            <a:avLst/>
          </a:prstGeom>
          <a:solidFill>
            <a:srgbClr val="6F5320">
              <a:alpha val="30000"/>
            </a:srgbClr>
          </a:solidFill>
          <a:ln w="12700">
            <a:solidFill>
              <a:srgbClr val="6F532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4114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C26B"/>
                </a:solidFill>
              </a:rPr>
              <a:t>WHY YOU ARE HERE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" y="86868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 Not a Diet.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Is a Reclamation.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502920" y="2286000"/>
            <a:ext cx="53035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E5E7EB"/>
                </a:solidFill>
              </a:rPr>
              <a:t>Kat's Legacy was born from love under impossible odds.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E5E7EB"/>
                </a:solidFill>
              </a:rPr>
              <a:t>You are not here to perform perfection — you are here to document honest transformation.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E5E7EB"/>
                </a:solidFill>
              </a:rPr>
              <a:t>Twenty guided sessions open the door. Your daily log writes the book.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E5E7EB"/>
                </a:solidFill>
              </a:rPr>
              <a:t>Expect a rollercoaster — frustration, breakthrough, doubt, clarity. All of it is data.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035040" y="2148840"/>
            <a:ext cx="2606040" cy="2331720"/>
          </a:xfrm>
          <a:prstGeom prst="roundRect">
            <a:avLst>
              <a:gd name="adj" fmla="val 3922"/>
            </a:avLst>
          </a:prstGeom>
          <a:solidFill>
            <a:srgbClr val="120904"/>
          </a:solidFill>
          <a:ln w="19050">
            <a:solidFill>
              <a:srgbClr val="F5C2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72200" y="2331720"/>
            <a:ext cx="2331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C26B"/>
                </a:solidFill>
              </a:rPr>
              <a:t>YOUR PROMISE
</a:t>
            </a:r>
            <a:endParaRPr lang="en-US" sz="1300" dirty="0"/>
          </a:p>
          <a:p>
            <a:pPr indent="0" marL="0">
              <a:buNone/>
            </a:pPr>
            <a:r>
              <a:rPr lang="en-US" sz="1400" i="1" dirty="0">
                <a:solidFill>
                  <a:srgbClr val="E5E7EB"/>
                </a:solidFill>
              </a:rPr>
              <a:t>Show up for 10 minutes.</a:t>
            </a:r>
            <a:endParaRPr lang="en-US" sz="1300" dirty="0"/>
          </a:p>
          <a:p>
            <a:pPr indent="0" marL="0">
              <a:buNone/>
            </a:pPr>
            <a:r>
              <a:rPr lang="en-US" sz="1400" i="1" dirty="0">
                <a:solidFill>
                  <a:srgbClr val="E5E7EB"/>
                </a:solidFill>
              </a:rPr>
              <a:t>Log the truth.</a:t>
            </a:r>
            <a:endParaRPr lang="en-US" sz="1300" dirty="0"/>
          </a:p>
          <a:p>
            <a:pPr indent="0" marL="0">
              <a:buNone/>
            </a:pPr>
            <a:r>
              <a:rPr lang="en-US" sz="1400" i="1" dirty="0">
                <a:solidFill>
                  <a:srgbClr val="E5E7EB"/>
                </a:solidFill>
              </a:rPr>
              <a:t>Trust the protocol.</a:t>
            </a:r>
            <a:endParaRPr lang="en-US" sz="1300" dirty="0"/>
          </a:p>
          <a:p>
            <a:pPr indent="0" marL="0">
              <a:buNone/>
            </a:pPr>
            <a:r>
              <a:rPr lang="en-US" sz="1400" i="1" dirty="0">
                <a:solidFill>
                  <a:srgbClr val="E5E7EB"/>
                </a:solidFill>
              </a:rPr>
              <a:t>Celebrate every victory.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0B0C"/>
          </a:solidFill>
          <a:ln w="12700">
            <a:solidFill>
              <a:srgbClr val="0B0B0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C26B"/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2B1A12"/>
          </a:solidFill>
          <a:ln w="12700">
            <a:solidFill>
              <a:srgbClr val="2B1A1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C26B"/>
                </a:solidFill>
              </a:rPr>
              <a:t>HOW THIS COHORT WORKS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914400"/>
            <a:ext cx="2651760" cy="2011680"/>
          </a:xfrm>
          <a:prstGeom prst="roundRect">
            <a:avLst>
              <a:gd name="adj" fmla="val 4545"/>
            </a:avLst>
          </a:prstGeom>
          <a:solidFill>
            <a:srgbClr val="120904"/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0515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5C2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02920" y="18745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Cohort Sessions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2860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</a:rPr>
              <a:t>10 min live · facilitator-led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83280" y="914400"/>
            <a:ext cx="2651760" cy="2011680"/>
          </a:xfrm>
          <a:prstGeom prst="roundRect">
            <a:avLst>
              <a:gd name="adj" fmla="val 4545"/>
            </a:avLst>
          </a:prstGeom>
          <a:solidFill>
            <a:srgbClr val="120904"/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0" y="10515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5C2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42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3383280" y="18745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Book Days Available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0440" y="22860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</a:rPr>
              <a:t>Optional deeper authoring journey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914400"/>
            <a:ext cx="2651760" cy="2011680"/>
          </a:xfrm>
          <a:prstGeom prst="roundRect">
            <a:avLst>
              <a:gd name="adj" fmla="val 4545"/>
            </a:avLst>
          </a:prstGeom>
          <a:solidFill>
            <a:srgbClr val="120904"/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63640" y="10515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5C2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6263640" y="18745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Participant ID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0" y="22860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</a:rPr>
              <a:t>Links every log &amp; book chapter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3246120"/>
            <a:ext cx="8138160" cy="1417320"/>
          </a:xfrm>
          <a:prstGeom prst="roundRect">
            <a:avLst>
              <a:gd name="adj" fmla="val 5161"/>
            </a:avLst>
          </a:prstGeom>
          <a:solidFill>
            <a:srgbClr val="1A1410"/>
          </a:solidFill>
          <a:ln w="12700">
            <a:solidFill>
              <a:srgbClr val="6F532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3383280"/>
            <a:ext cx="77724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5C26B"/>
                </a:solidFill>
              </a:rPr>
              <a:t>About your Transformation Book: </a:t>
            </a:r>
            <a:pPr indent="0" marL="0">
              <a:buNone/>
            </a:pPr>
            <a:r>
              <a:rPr lang="en-US" sz="1300" dirty="0">
                <a:solidFill>
                  <a:srgbClr val="E5E7EB"/>
                </a:solidFill>
              </a:rPr>
              <a:t>These 20 sessions guide your cohort experience. Your Daily Transformation Log supports up to 42 days — continue journaling beyond Day 20 if you want a richer, longer book. REJU compiles your chapters at Day 42.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0B0C"/>
          </a:solidFill>
          <a:ln w="12700">
            <a:solidFill>
              <a:srgbClr val="0B0B0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C26B"/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2B1A12"/>
          </a:solidFill>
          <a:ln w="12700">
            <a:solidFill>
              <a:srgbClr val="2B1A1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20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C26B"/>
                </a:solidFill>
              </a:rPr>
              <a:t>YOUR 20-DAY JOURNEY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941832"/>
            <a:ext cx="320040" cy="320040"/>
          </a:xfrm>
          <a:prstGeom prst="ellipse">
            <a:avLst/>
          </a:prstGeom>
          <a:solidFill>
            <a:srgbClr val="F5C26B"/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261872"/>
            <a:ext cx="0" cy="502920"/>
          </a:xfrm>
          <a:prstGeom prst="line">
            <a:avLst/>
          </a:prstGeom>
          <a:noFill/>
          <a:ln w="25400">
            <a:solidFill>
              <a:srgbClr val="6F532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868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Phase I — Know Your Body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12161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</a:rPr>
              <a:t>Days 1–4 · Lymph · Immune · Digestion · Awareness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1746504"/>
            <a:ext cx="320040" cy="320040"/>
          </a:xfrm>
          <a:prstGeom prst="ellipse">
            <a:avLst/>
          </a:prstGeom>
          <a:solidFill>
            <a:srgbClr val="F5C26B"/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066544"/>
            <a:ext cx="0" cy="502920"/>
          </a:xfrm>
          <a:prstGeom prst="line">
            <a:avLst/>
          </a:prstGeom>
          <a:noFill/>
          <a:ln w="25400">
            <a:solidFill>
              <a:srgbClr val="6F532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167335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Phase II — Clear the Poison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60120" y="202082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</a:rPr>
              <a:t>Days 5–9 · Toxins · Sugar · Mind · Water · Colon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2551176"/>
            <a:ext cx="320040" cy="320040"/>
          </a:xfrm>
          <a:prstGeom prst="ellipse">
            <a:avLst/>
          </a:prstGeom>
          <a:solidFill>
            <a:srgbClr val="F5C26B"/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2871216"/>
            <a:ext cx="0" cy="502920"/>
          </a:xfrm>
          <a:prstGeom prst="line">
            <a:avLst/>
          </a:prstGeom>
          <a:noFill/>
          <a:ln w="25400">
            <a:solidFill>
              <a:srgbClr val="6F532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2478024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Phase III — Fuel the Repair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960120" y="28254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</a:rPr>
              <a:t>Days 10–12 · Kat's JOL · Superfoods · Autophagy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3355848"/>
            <a:ext cx="320040" cy="320040"/>
          </a:xfrm>
          <a:prstGeom prst="ellipse">
            <a:avLst/>
          </a:prstGeom>
          <a:solidFill>
            <a:srgbClr val="F5C26B"/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3675888"/>
            <a:ext cx="0" cy="502920"/>
          </a:xfrm>
          <a:prstGeom prst="line">
            <a:avLst/>
          </a:prstGeom>
          <a:noFill/>
          <a:ln w="25400">
            <a:solidFill>
              <a:srgbClr val="6F532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0120" y="3282696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Phase IV — Live the Protocol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60120" y="3630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</a:rPr>
              <a:t>Days 13–17 · Detox · Ketosis · Repair · Transition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02920" y="4160520"/>
            <a:ext cx="320040" cy="320040"/>
          </a:xfrm>
          <a:prstGeom prst="ellipse">
            <a:avLst/>
          </a:prstGeom>
          <a:solidFill>
            <a:srgbClr val="F5C26B"/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0120" y="408736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Phase V — Own Your Legacy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60120" y="4434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</a:rPr>
              <a:t>Days 18–20 · Body Language · Faith · Celebration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0B0C"/>
          </a:solidFill>
          <a:ln w="12700">
            <a:solidFill>
              <a:srgbClr val="0B0B0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C26B"/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2B1A12"/>
          </a:solidFill>
          <a:ln w="12700">
            <a:solidFill>
              <a:srgbClr val="2B1A1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0" y="-731520"/>
            <a:ext cx="2194560" cy="2194560"/>
          </a:xfrm>
          <a:prstGeom prst="ellipse">
            <a:avLst/>
          </a:prstGeom>
          <a:solidFill>
            <a:srgbClr val="F5C26B">
              <a:alpha val="12000"/>
            </a:srgbClr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-548640" y="3840480"/>
            <a:ext cx="1645920" cy="1645920"/>
          </a:xfrm>
          <a:prstGeom prst="ellipse">
            <a:avLst/>
          </a:prstGeom>
          <a:solidFill>
            <a:srgbClr val="6F5320">
              <a:alpha val="30000"/>
            </a:srgbClr>
          </a:solidFill>
          <a:ln w="12700">
            <a:solidFill>
              <a:srgbClr val="6F532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46304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5C2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I — KNOW YOUR BODY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502920" y="224028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5E7EB"/>
                </a:solidFill>
              </a:rPr>
              <a:t>Days 1–4 · Lymph · Immune · Digestion · Awareness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200400" y="2926080"/>
            <a:ext cx="2743200" cy="0"/>
          </a:xfrm>
          <a:prstGeom prst="line">
            <a:avLst/>
          </a:prstGeom>
          <a:noFill/>
          <a:ln w="25400">
            <a:solidFill>
              <a:srgbClr val="F5C26B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0B0C"/>
          </a:solidFill>
          <a:ln w="12700">
            <a:solidFill>
              <a:srgbClr val="0B0B0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C26B"/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2B1A12"/>
          </a:solidFill>
          <a:ln w="12700">
            <a:solidFill>
              <a:srgbClr val="2B1A1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0" y="-731520"/>
            <a:ext cx="2194560" cy="2194560"/>
          </a:xfrm>
          <a:prstGeom prst="ellipse">
            <a:avLst/>
          </a:prstGeom>
          <a:solidFill>
            <a:srgbClr val="F5C26B">
              <a:alpha val="12000"/>
            </a:srgbClr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-548640" y="3840480"/>
            <a:ext cx="1645920" cy="1645920"/>
          </a:xfrm>
          <a:prstGeom prst="ellipse">
            <a:avLst/>
          </a:prstGeom>
          <a:solidFill>
            <a:srgbClr val="6F5320">
              <a:alpha val="30000"/>
            </a:srgbClr>
          </a:solidFill>
          <a:ln w="12700">
            <a:solidFill>
              <a:srgbClr val="6F532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20040"/>
            <a:ext cx="777240" cy="777240"/>
          </a:xfrm>
          <a:prstGeom prst="ellipse">
            <a:avLst/>
          </a:prstGeom>
          <a:solidFill>
            <a:srgbClr val="F5C26B"/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3200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B0B0C"/>
                </a:solidFill>
              </a:rPr>
              <a:t>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325880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C26B"/>
                </a:solidFill>
              </a:rPr>
              <a:t>DAY 1  ·  10 MIN SESSION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325880" y="658368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Welcome, Kat's Legacy &amp; Your Health Benchmark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325880" y="11430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</a:rPr>
              <a:t>Introduction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02920" y="1417320"/>
            <a:ext cx="8138160" cy="685800"/>
          </a:xfrm>
          <a:prstGeom prst="roundRect">
            <a:avLst>
              <a:gd name="adj" fmla="val 8000"/>
            </a:avLst>
          </a:prstGeom>
          <a:solidFill>
            <a:srgbClr val="120904"/>
          </a:solidFill>
          <a:ln w="12700">
            <a:solidFill>
              <a:srgbClr val="6F532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1481328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5C26B"/>
                </a:solidFill>
              </a:rPr>
              <a:t>"A father refused to accept the word impossible — and that love became Kat's Legacy, and your protocol."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2920" y="224028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Kat's Legacy began when Wilson Fischmann refused to accept a brain-dead diagnosis for his daughter Kat — leading to Kat…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This program is not a quick fix; it is a structured commitment to transformation through the REJU Protocol™ and the Fou…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Three maintenance types from the Bolivia course: corrective (repair damage), preventive (stop decline), and autonomous…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15000" y="2194560"/>
            <a:ext cx="2926080" cy="1965960"/>
          </a:xfrm>
          <a:prstGeom prst="roundRect">
            <a:avLst>
              <a:gd name="adj" fmla="val 3721"/>
            </a:avLst>
          </a:prstGeom>
          <a:solidFill>
            <a:srgbClr val="1A1410"/>
          </a:solidFill>
          <a:ln w="19050">
            <a:solidFill>
              <a:srgbClr val="F5C2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0" y="22860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C26B"/>
                </a:solidFill>
              </a:rPr>
              <a:t>YOUR MOVE TODAY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06440" y="2606040"/>
            <a:ext cx="26974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E5E7EB"/>
                </a:solidFill>
              </a:rPr>
              <a:t>Download Kat's Legacy and read the Introduction.</a:t>
            </a:r>
            <a:endParaRPr lang="en-US" sz="10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E5E7EB"/>
                </a:solidFill>
              </a:rPr>
              <a:t>Take baseline photos and write your starting benchmark in the daily transformat…</a:t>
            </a:r>
            <a:endParaRPr lang="en-US" sz="10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E5E7EB"/>
                </a:solidFill>
              </a:rPr>
              <a:t>Save your Participant ID on every entry going forward.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02920" y="434340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CA3AF"/>
                </a:solidFill>
              </a:rPr>
              <a:t>End with one Today's Victory — the first of 20+.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0B0C"/>
          </a:solidFill>
          <a:ln w="12700">
            <a:solidFill>
              <a:srgbClr val="0B0B0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C26B"/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2B1A12"/>
          </a:solidFill>
          <a:ln w="12700">
            <a:solidFill>
              <a:srgbClr val="2B1A1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0" y="-731520"/>
            <a:ext cx="2194560" cy="2194560"/>
          </a:xfrm>
          <a:prstGeom prst="ellipse">
            <a:avLst/>
          </a:prstGeom>
          <a:solidFill>
            <a:srgbClr val="F5C26B">
              <a:alpha val="12000"/>
            </a:srgbClr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-548640" y="3840480"/>
            <a:ext cx="1645920" cy="1645920"/>
          </a:xfrm>
          <a:prstGeom prst="ellipse">
            <a:avLst/>
          </a:prstGeom>
          <a:solidFill>
            <a:srgbClr val="6F5320">
              <a:alpha val="30000"/>
            </a:srgbClr>
          </a:solidFill>
          <a:ln w="12700">
            <a:solidFill>
              <a:srgbClr val="6F532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20040"/>
            <a:ext cx="777240" cy="777240"/>
          </a:xfrm>
          <a:prstGeom prst="ellipse">
            <a:avLst/>
          </a:prstGeom>
          <a:solidFill>
            <a:srgbClr val="F5C26B"/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3200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B0B0C"/>
                </a:solidFill>
              </a:rPr>
              <a:t>2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325880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C26B"/>
                </a:solidFill>
              </a:rPr>
              <a:t>DAY 2  ·  10 MIN SESSION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325880" y="658368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Lymphatic System — Your Body's Drainage Network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325880" y="11430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</a:rPr>
              <a:t>Chapter 1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02920" y="1417320"/>
            <a:ext cx="8138160" cy="685800"/>
          </a:xfrm>
          <a:prstGeom prst="roundRect">
            <a:avLst>
              <a:gd name="adj" fmla="val 8000"/>
            </a:avLst>
          </a:prstGeom>
          <a:solidFill>
            <a:srgbClr val="120904"/>
          </a:solidFill>
          <a:ln w="12700">
            <a:solidFill>
              <a:srgbClr val="6F532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1481328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5C26B"/>
                </a:solidFill>
              </a:rPr>
              <a:t>"Your body is a living city. When the drainage stops, the whole city floods."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2920" y="224028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Imagine your body as a city: lymph nodes are waste-processing plants; lymph vessels are garbage truck routes (Kat's Leg…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Key functions: drain waste and toxins, defend against pathogens with immune cells, absorb fats and fat-soluble vitamins.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Lymph has no central pump — it moves through muscle contractions, movement, and deep breathing. Sedentary life stalls t…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15000" y="2194560"/>
            <a:ext cx="2926080" cy="1965960"/>
          </a:xfrm>
          <a:prstGeom prst="roundRect">
            <a:avLst>
              <a:gd name="adj" fmla="val 3721"/>
            </a:avLst>
          </a:prstGeom>
          <a:solidFill>
            <a:srgbClr val="1A1410"/>
          </a:solidFill>
          <a:ln w="19050">
            <a:solidFill>
              <a:srgbClr val="F5C2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0" y="22860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C26B"/>
                </a:solidFill>
              </a:rPr>
              <a:t>YOUR MOVE TODAY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06440" y="2606040"/>
            <a:ext cx="26974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E5E7EB"/>
                </a:solidFill>
              </a:rPr>
              <a:t>Read Kat's Legacy Chapter 1.</a:t>
            </a:r>
            <a:endParaRPr lang="en-US" sz="10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E5E7EB"/>
                </a:solidFill>
              </a:rPr>
              <a:t>Practice 5 minutes of deep diaphragmatic breathing today.</a:t>
            </a:r>
            <a:endParaRPr lang="en-US" sz="10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E5E7EB"/>
                </a:solidFill>
              </a:rPr>
              <a:t>Log lymph-related observations: bloating, swelling, energy — in your daily log.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0B0C"/>
          </a:solidFill>
          <a:ln w="12700">
            <a:solidFill>
              <a:srgbClr val="0B0B0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C26B"/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2B1A12"/>
          </a:solidFill>
          <a:ln w="12700">
            <a:solidFill>
              <a:srgbClr val="2B1A1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0" y="-731520"/>
            <a:ext cx="2194560" cy="2194560"/>
          </a:xfrm>
          <a:prstGeom prst="ellipse">
            <a:avLst/>
          </a:prstGeom>
          <a:solidFill>
            <a:srgbClr val="F5C26B">
              <a:alpha val="12000"/>
            </a:srgbClr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-548640" y="3840480"/>
            <a:ext cx="1645920" cy="1645920"/>
          </a:xfrm>
          <a:prstGeom prst="ellipse">
            <a:avLst/>
          </a:prstGeom>
          <a:solidFill>
            <a:srgbClr val="6F5320">
              <a:alpha val="30000"/>
            </a:srgbClr>
          </a:solidFill>
          <a:ln w="12700">
            <a:solidFill>
              <a:srgbClr val="6F532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20040"/>
            <a:ext cx="777240" cy="777240"/>
          </a:xfrm>
          <a:prstGeom prst="ellipse">
            <a:avLst/>
          </a:prstGeom>
          <a:solidFill>
            <a:srgbClr val="F5C26B"/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3200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B0B0C"/>
                </a:solidFill>
              </a:rPr>
              <a:t>3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325880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C26B"/>
                </a:solidFill>
              </a:rPr>
              <a:t>DAY 3  ·  10 MIN SESSION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325880" y="658368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Immune System — Innate &amp; Adaptive Defense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325880" y="11430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</a:rPr>
              <a:t>Chapter 2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02920" y="1417320"/>
            <a:ext cx="8138160" cy="685800"/>
          </a:xfrm>
          <a:prstGeom prst="roundRect">
            <a:avLst>
              <a:gd name="adj" fmla="val 8000"/>
            </a:avLst>
          </a:prstGeom>
          <a:solidFill>
            <a:srgbClr val="120904"/>
          </a:solidFill>
          <a:ln w="12700">
            <a:solidFill>
              <a:srgbClr val="6F532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1481328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5C26B"/>
                </a:solidFill>
              </a:rPr>
              <a:t>"You were born with an army inside you. Stress is the traitor that disarms it."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2920" y="224028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First barriers: skin, mucous membranes, stomach acid — the city's walls before invaders enter.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Innate immunity: immediate, non-specific — fever, inflammation, macrophages, neutrophils, NK cells.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Adaptive immunity: memory-based — B cells produce antibodies; T cells attack from within. This is the principle behind…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15000" y="2194560"/>
            <a:ext cx="2926080" cy="1965960"/>
          </a:xfrm>
          <a:prstGeom prst="roundRect">
            <a:avLst>
              <a:gd name="adj" fmla="val 3721"/>
            </a:avLst>
          </a:prstGeom>
          <a:solidFill>
            <a:srgbClr val="1A1410"/>
          </a:solidFill>
          <a:ln w="19050">
            <a:solidFill>
              <a:srgbClr val="F5C2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0" y="22860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C26B"/>
                </a:solidFill>
              </a:rPr>
              <a:t>YOUR MOVE TODAY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06440" y="2606040"/>
            <a:ext cx="26974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E5E7EB"/>
                </a:solidFill>
              </a:rPr>
              <a:t>Read Kat's Legacy Chapter 2.</a:t>
            </a:r>
            <a:endParaRPr lang="en-US" sz="10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E5E7EB"/>
                </a:solidFill>
              </a:rPr>
              <a:t>Note any recurring infections, inflammation, or autoimmune patterns in your ben…</a:t>
            </a:r>
            <a:endParaRPr lang="en-US" sz="10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E5E7EB"/>
                </a:solidFill>
              </a:rPr>
              <a:t>Identify one stress source you can reduce today.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0B0C"/>
          </a:solidFill>
          <a:ln w="12700">
            <a:solidFill>
              <a:srgbClr val="0B0B0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C26B"/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2B1A12"/>
          </a:solidFill>
          <a:ln w="12700">
            <a:solidFill>
              <a:srgbClr val="2B1A1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0" y="-731520"/>
            <a:ext cx="2194560" cy="2194560"/>
          </a:xfrm>
          <a:prstGeom prst="ellipse">
            <a:avLst/>
          </a:prstGeom>
          <a:solidFill>
            <a:srgbClr val="F5C26B">
              <a:alpha val="12000"/>
            </a:srgbClr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-548640" y="3840480"/>
            <a:ext cx="1645920" cy="1645920"/>
          </a:xfrm>
          <a:prstGeom prst="ellipse">
            <a:avLst/>
          </a:prstGeom>
          <a:solidFill>
            <a:srgbClr val="6F5320">
              <a:alpha val="30000"/>
            </a:srgbClr>
          </a:solidFill>
          <a:ln w="12700">
            <a:solidFill>
              <a:srgbClr val="6F532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20040"/>
            <a:ext cx="777240" cy="777240"/>
          </a:xfrm>
          <a:prstGeom prst="ellipse">
            <a:avLst/>
          </a:prstGeom>
          <a:solidFill>
            <a:srgbClr val="F5C26B"/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3200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B0B0C"/>
                </a:solidFill>
              </a:rPr>
              <a:t>4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325880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C26B"/>
                </a:solidFill>
              </a:rPr>
              <a:t>DAY 4  ·  10 MIN SESSION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325880" y="658368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Digestive System — Foundation of All Health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325880" y="11430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</a:rPr>
              <a:t>Chapter 3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02920" y="1417320"/>
            <a:ext cx="8138160" cy="685800"/>
          </a:xfrm>
          <a:prstGeom prst="roundRect">
            <a:avLst>
              <a:gd name="adj" fmla="val 8000"/>
            </a:avLst>
          </a:prstGeom>
          <a:solidFill>
            <a:srgbClr val="120904"/>
          </a:solidFill>
          <a:ln w="12700">
            <a:solidFill>
              <a:srgbClr val="6F532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1481328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5C26B"/>
                </a:solidFill>
              </a:rPr>
              <a:t>"Every chronic illness conversation eventually returns to one room: your gut."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2920" y="224028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The gut is not just about food — it houses the microbiome, produces neurotransmitters, and connects to immunity and det…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Processing time matters: the course teaches ~10 hours for digestion — constant eating never lets the system rest.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Leaky gut (intestinal permeability) allows toxins and undigested particles into blood — linking diet to systemic inflam…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15000" y="2194560"/>
            <a:ext cx="2926080" cy="1965960"/>
          </a:xfrm>
          <a:prstGeom prst="roundRect">
            <a:avLst>
              <a:gd name="adj" fmla="val 3721"/>
            </a:avLst>
          </a:prstGeom>
          <a:solidFill>
            <a:srgbClr val="1A1410"/>
          </a:solidFill>
          <a:ln w="19050">
            <a:solidFill>
              <a:srgbClr val="F5C2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0" y="22860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C26B"/>
                </a:solidFill>
              </a:rPr>
              <a:t>YOUR MOVE TODAY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06440" y="2606040"/>
            <a:ext cx="26974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E5E7EB"/>
                </a:solidFill>
              </a:rPr>
              <a:t>Read Kat's Legacy Chapter 3.</a:t>
            </a:r>
            <a:endParaRPr lang="en-US" sz="10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E5E7EB"/>
                </a:solidFill>
              </a:rPr>
              <a:t>Track elimination patterns honestly (frequency, quality) — data, not judgment.</a:t>
            </a:r>
            <a:endParaRPr lang="en-US" sz="10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E5E7EB"/>
                </a:solidFill>
              </a:rPr>
              <a:t>Begin reducing one processed food category from your intake.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0B0C"/>
          </a:solidFill>
          <a:ln w="12700">
            <a:solidFill>
              <a:srgbClr val="0B0B0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C26B"/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2B1A12"/>
          </a:solidFill>
          <a:ln w="12700">
            <a:solidFill>
              <a:srgbClr val="2B1A1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0" y="-731520"/>
            <a:ext cx="2194560" cy="2194560"/>
          </a:xfrm>
          <a:prstGeom prst="ellipse">
            <a:avLst/>
          </a:prstGeom>
          <a:solidFill>
            <a:srgbClr val="F5C26B">
              <a:alpha val="12000"/>
            </a:srgbClr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-548640" y="3840480"/>
            <a:ext cx="1645920" cy="1645920"/>
          </a:xfrm>
          <a:prstGeom prst="ellipse">
            <a:avLst/>
          </a:prstGeom>
          <a:solidFill>
            <a:srgbClr val="6F5320">
              <a:alpha val="30000"/>
            </a:srgbClr>
          </a:solidFill>
          <a:ln w="12700">
            <a:solidFill>
              <a:srgbClr val="6F532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46304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5C2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II — CLEAR THE POISON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502920" y="224028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5E7EB"/>
                </a:solidFill>
              </a:rPr>
              <a:t>Days 5–9 · Toxins · Sugar · Mind · Water · Colon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200400" y="2926080"/>
            <a:ext cx="2743200" cy="0"/>
          </a:xfrm>
          <a:prstGeom prst="line">
            <a:avLst/>
          </a:prstGeom>
          <a:noFill/>
          <a:ln w="25400">
            <a:solidFill>
              <a:srgbClr val="F5C26B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0B0C"/>
          </a:solidFill>
          <a:ln w="12700">
            <a:solidFill>
              <a:srgbClr val="0B0B0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C26B"/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2B1A12"/>
          </a:solidFill>
          <a:ln w="12700">
            <a:solidFill>
              <a:srgbClr val="2B1A1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0" y="-731520"/>
            <a:ext cx="2194560" cy="2194560"/>
          </a:xfrm>
          <a:prstGeom prst="ellipse">
            <a:avLst/>
          </a:prstGeom>
          <a:solidFill>
            <a:srgbClr val="F5C26B">
              <a:alpha val="12000"/>
            </a:srgbClr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-548640" y="3840480"/>
            <a:ext cx="1645920" cy="1645920"/>
          </a:xfrm>
          <a:prstGeom prst="ellipse">
            <a:avLst/>
          </a:prstGeom>
          <a:solidFill>
            <a:srgbClr val="6F5320">
              <a:alpha val="30000"/>
            </a:srgbClr>
          </a:solidFill>
          <a:ln w="12700">
            <a:solidFill>
              <a:srgbClr val="6F532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20040"/>
            <a:ext cx="777240" cy="777240"/>
          </a:xfrm>
          <a:prstGeom prst="ellipse">
            <a:avLst/>
          </a:prstGeom>
          <a:solidFill>
            <a:srgbClr val="F5C26B"/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3200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B0B0C"/>
                </a:solidFill>
              </a:rPr>
              <a:t>5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325880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C26B"/>
                </a:solidFill>
              </a:rPr>
              <a:t>DAY 5  ·  10 MIN SESSION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325880" y="658368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Physical Toxicity — Hidden Dangers in Food &amp; Environment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325880" y="11430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</a:rPr>
              <a:t>Chapter 4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02920" y="1417320"/>
            <a:ext cx="8138160" cy="685800"/>
          </a:xfrm>
          <a:prstGeom prst="roundRect">
            <a:avLst>
              <a:gd name="adj" fmla="val 8000"/>
            </a:avLst>
          </a:prstGeom>
          <a:solidFill>
            <a:srgbClr val="120904"/>
          </a:solidFill>
          <a:ln w="12700">
            <a:solidFill>
              <a:srgbClr val="6F532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1481328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5C26B"/>
                </a:solidFill>
              </a:rPr>
              <a:t>"You cannot clean a jar while pouring poison into it. Stop the intake first."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2920" y="224028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Step one of detoxification: stop ingesting toxins. You cannot clean a dirty jar while pouring mud into it.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Water toxicity: fluoride, BPA bottles, heavy metals — filter and source matter.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Food toxicity: processed meats (nitrites), farmed fish (PCBs, antibiotics), GMOs, grilled PAHs, hydrogenated oils, micr…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15000" y="2194560"/>
            <a:ext cx="2926080" cy="1965960"/>
          </a:xfrm>
          <a:prstGeom prst="roundRect">
            <a:avLst>
              <a:gd name="adj" fmla="val 3721"/>
            </a:avLst>
          </a:prstGeom>
          <a:solidFill>
            <a:srgbClr val="1A1410"/>
          </a:solidFill>
          <a:ln w="19050">
            <a:solidFill>
              <a:srgbClr val="F5C2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0" y="22860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C26B"/>
                </a:solidFill>
              </a:rPr>
              <a:t>YOUR MOVE TODAY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06440" y="2606040"/>
            <a:ext cx="26974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E5E7EB"/>
                </a:solidFill>
              </a:rPr>
              <a:t>Read Kat's Legacy Chapter 4.</a:t>
            </a:r>
            <a:endParaRPr lang="en-US" sz="10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E5E7EB"/>
                </a:solidFill>
              </a:rPr>
              <a:t>Audit your kitchen: list 5 toxic items to remove this week.</a:t>
            </a:r>
            <a:endParaRPr lang="en-US" sz="10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E5E7EB"/>
                </a:solidFill>
              </a:rPr>
              <a:t>Switch one water or food source to a cleaner alternative.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0B0C"/>
          </a:solidFill>
          <a:ln w="12700">
            <a:solidFill>
              <a:srgbClr val="0B0B0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C26B"/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2B1A12"/>
          </a:solidFill>
          <a:ln w="12700">
            <a:solidFill>
              <a:srgbClr val="2B1A1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0" y="-731520"/>
            <a:ext cx="2194560" cy="2194560"/>
          </a:xfrm>
          <a:prstGeom prst="ellipse">
            <a:avLst/>
          </a:prstGeom>
          <a:solidFill>
            <a:srgbClr val="F5C26B">
              <a:alpha val="12000"/>
            </a:srgbClr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-548640" y="3840480"/>
            <a:ext cx="1645920" cy="1645920"/>
          </a:xfrm>
          <a:prstGeom prst="ellipse">
            <a:avLst/>
          </a:prstGeom>
          <a:solidFill>
            <a:srgbClr val="6F5320">
              <a:alpha val="30000"/>
            </a:srgbClr>
          </a:solidFill>
          <a:ln w="12700">
            <a:solidFill>
              <a:srgbClr val="6F532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20040"/>
            <a:ext cx="777240" cy="777240"/>
          </a:xfrm>
          <a:prstGeom prst="ellipse">
            <a:avLst/>
          </a:prstGeom>
          <a:solidFill>
            <a:srgbClr val="F5C26B"/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3200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B0B0C"/>
                </a:solidFill>
              </a:rPr>
              <a:t>6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325880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C26B"/>
                </a:solidFill>
              </a:rPr>
              <a:t>DAY 6  ·  10 MIN SESSION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325880" y="658368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Sugar — Metabolic Damage &amp; the Warburg Effect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325880" y="11430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</a:rPr>
              <a:t>Chapter 5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02920" y="1417320"/>
            <a:ext cx="8138160" cy="685800"/>
          </a:xfrm>
          <a:prstGeom prst="roundRect">
            <a:avLst>
              <a:gd name="adj" fmla="val 8000"/>
            </a:avLst>
          </a:prstGeom>
          <a:solidFill>
            <a:srgbClr val="120904"/>
          </a:solidFill>
          <a:ln w="12700">
            <a:solidFill>
              <a:srgbClr val="6F532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1481328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5C26B"/>
                </a:solidFill>
              </a:rPr>
              <a:t>"Sugar is not comfort — it is fuel for the very inflammation you came here to escape."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2920" y="224028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Americans consume ~141 lbs of sugar per year — one soda daily = ~15.6 lbs of fat equivalent annually (course math).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Fructose converts to uric acid (gout), raises triglycerides, and drives small dense LDL-B — the dangerous particle.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Sugar suppresses immunity, feeds cancer preferentially (Warburg: cancer lives in acidic, low-oxygen, high-sugar environ…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15000" y="2194560"/>
            <a:ext cx="2926080" cy="1965960"/>
          </a:xfrm>
          <a:prstGeom prst="roundRect">
            <a:avLst>
              <a:gd name="adj" fmla="val 3721"/>
            </a:avLst>
          </a:prstGeom>
          <a:solidFill>
            <a:srgbClr val="1A1410"/>
          </a:solidFill>
          <a:ln w="19050">
            <a:solidFill>
              <a:srgbClr val="F5C2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0" y="22860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C26B"/>
                </a:solidFill>
              </a:rPr>
              <a:t>YOUR MOVE TODAY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06440" y="2606040"/>
            <a:ext cx="26974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E5E7EB"/>
                </a:solidFill>
              </a:rPr>
              <a:t>Read Kat's Legacy Chapter 5.</a:t>
            </a:r>
            <a:endParaRPr lang="en-US" sz="10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E5E7EB"/>
                </a:solidFill>
              </a:rPr>
              <a:t>Eliminate all sodas, juices, and added sugar today.</a:t>
            </a:r>
            <a:endParaRPr lang="en-US" sz="10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E5E7EB"/>
                </a:solidFill>
              </a:rPr>
              <a:t>Read labels — identify hidden sugars in sauces, breads, and 'health' products.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0B0C"/>
          </a:solidFill>
          <a:ln w="12700">
            <a:solidFill>
              <a:srgbClr val="0B0B0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C26B"/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2B1A12"/>
          </a:solidFill>
          <a:ln w="12700">
            <a:solidFill>
              <a:srgbClr val="2B1A1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0" y="-731520"/>
            <a:ext cx="2194560" cy="2194560"/>
          </a:xfrm>
          <a:prstGeom prst="ellipse">
            <a:avLst/>
          </a:prstGeom>
          <a:solidFill>
            <a:srgbClr val="F5C26B">
              <a:alpha val="12000"/>
            </a:srgbClr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-548640" y="3840480"/>
            <a:ext cx="1645920" cy="1645920"/>
          </a:xfrm>
          <a:prstGeom prst="ellipse">
            <a:avLst/>
          </a:prstGeom>
          <a:solidFill>
            <a:srgbClr val="6F5320">
              <a:alpha val="30000"/>
            </a:srgbClr>
          </a:solidFill>
          <a:ln w="12700">
            <a:solidFill>
              <a:srgbClr val="6F532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20040"/>
            <a:ext cx="777240" cy="777240"/>
          </a:xfrm>
          <a:prstGeom prst="ellipse">
            <a:avLst/>
          </a:prstGeom>
          <a:solidFill>
            <a:srgbClr val="F5C26B"/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3200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B0B0C"/>
                </a:solidFill>
              </a:rPr>
              <a:t>7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325880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C26B"/>
                </a:solidFill>
              </a:rPr>
              <a:t>DAY 7  ·  10 MIN SESSION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325880" y="658368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Mental Toxicity, Stress &amp; Emotional Eating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325880" y="11430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</a:rPr>
              <a:t>Chapter 4 (Mental Toxicity)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02920" y="1417320"/>
            <a:ext cx="8138160" cy="685800"/>
          </a:xfrm>
          <a:prstGeom prst="roundRect">
            <a:avLst>
              <a:gd name="adj" fmla="val 8000"/>
            </a:avLst>
          </a:prstGeom>
          <a:solidFill>
            <a:srgbClr val="120904"/>
          </a:solidFill>
          <a:ln w="12700">
            <a:solidFill>
              <a:srgbClr val="6F532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1481328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5C26B"/>
                </a:solidFill>
              </a:rPr>
              <a:t>"You are not weak when you stress-eat. You are human. Now learn to hear the emotion before the fork."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2920" y="224028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When stressed, the sympathetic system activates fight-or-flight: blood leaves digestion, immunity suppresses, cortisol…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Emotional eating satisfies a feeling, not hunger — when the emotion returns, the cycle repeats (course: 'eating for sat…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Chronic stress manifests physically: headaches, ulcers, hair loss, irregular cycles, hypertension, insomnia, acne.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15000" y="2194560"/>
            <a:ext cx="2926080" cy="1965960"/>
          </a:xfrm>
          <a:prstGeom prst="roundRect">
            <a:avLst>
              <a:gd name="adj" fmla="val 3721"/>
            </a:avLst>
          </a:prstGeom>
          <a:solidFill>
            <a:srgbClr val="1A1410"/>
          </a:solidFill>
          <a:ln w="19050">
            <a:solidFill>
              <a:srgbClr val="F5C2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0" y="22860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C26B"/>
                </a:solidFill>
              </a:rPr>
              <a:t>YOUR MOVE TODAY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06440" y="2606040"/>
            <a:ext cx="26974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E5E7EB"/>
                </a:solidFill>
              </a:rPr>
              <a:t>Identify your top stress-eating trigger and write it in your log.</a:t>
            </a:r>
            <a:endParaRPr lang="en-US" sz="10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E5E7EB"/>
                </a:solidFill>
              </a:rPr>
              <a:t>Practice 10 minutes of stillness, breath work, or the 'O' meditation system fro…</a:t>
            </a:r>
            <a:endParaRPr lang="en-US" sz="10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E5E7EB"/>
                </a:solidFill>
              </a:rPr>
              <a:t>Record Today's Victory that is emotional, not food-related.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0B0C"/>
          </a:solidFill>
          <a:ln w="12700">
            <a:solidFill>
              <a:srgbClr val="0B0B0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C26B"/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2B1A12"/>
          </a:solidFill>
          <a:ln w="12700">
            <a:solidFill>
              <a:srgbClr val="2B1A1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0" y="-731520"/>
            <a:ext cx="2194560" cy="2194560"/>
          </a:xfrm>
          <a:prstGeom prst="ellipse">
            <a:avLst/>
          </a:prstGeom>
          <a:solidFill>
            <a:srgbClr val="F5C26B">
              <a:alpha val="12000"/>
            </a:srgbClr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-548640" y="3840480"/>
            <a:ext cx="1645920" cy="1645920"/>
          </a:xfrm>
          <a:prstGeom prst="ellipse">
            <a:avLst/>
          </a:prstGeom>
          <a:solidFill>
            <a:srgbClr val="6F5320">
              <a:alpha val="30000"/>
            </a:srgbClr>
          </a:solidFill>
          <a:ln w="12700">
            <a:solidFill>
              <a:srgbClr val="6F532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20040"/>
            <a:ext cx="777240" cy="777240"/>
          </a:xfrm>
          <a:prstGeom prst="ellipse">
            <a:avLst/>
          </a:prstGeom>
          <a:solidFill>
            <a:srgbClr val="F5C26B"/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3200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B0B0C"/>
                </a:solidFill>
              </a:rPr>
              <a:t>8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325880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C26B"/>
                </a:solidFill>
              </a:rPr>
              <a:t>DAY 8  ·  10 MIN SESSION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325880" y="658368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Water, Hydration, pH &amp; Alkaline Foundations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325880" y="11430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</a:rPr>
              <a:t>Chapter 11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02920" y="1417320"/>
            <a:ext cx="8138160" cy="685800"/>
          </a:xfrm>
          <a:prstGeom prst="roundRect">
            <a:avLst>
              <a:gd name="adj" fmla="val 8000"/>
            </a:avLst>
          </a:prstGeom>
          <a:solidFill>
            <a:srgbClr val="120904"/>
          </a:solidFill>
          <a:ln w="12700">
            <a:solidFill>
              <a:srgbClr val="6F532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1481328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5C26B"/>
                </a:solidFill>
              </a:rPr>
              <a:t>"Water is not background noise. It is the river that carries every healing signal through your body."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2920" y="224028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Hydration formula (course): body weight in kg ÷ 10 ÷ 3 = liters daily (e.g., 90 kg → 3 L). Book: kg ÷ 30 or half body w…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Morning ritual: warm water + lemon + pinch of Himalayan salt — activates digestion and remineralizes.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Acidity drives osteoporosis, gout, and creates hostile terrain — Otto Warburg linked acidic environments to disease.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15000" y="2194560"/>
            <a:ext cx="2926080" cy="1965960"/>
          </a:xfrm>
          <a:prstGeom prst="roundRect">
            <a:avLst>
              <a:gd name="adj" fmla="val 3721"/>
            </a:avLst>
          </a:prstGeom>
          <a:solidFill>
            <a:srgbClr val="1A1410"/>
          </a:solidFill>
          <a:ln w="19050">
            <a:solidFill>
              <a:srgbClr val="F5C2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0" y="22860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C26B"/>
                </a:solidFill>
              </a:rPr>
              <a:t>YOUR MOVE TODAY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06440" y="2606040"/>
            <a:ext cx="26974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E5E7EB"/>
                </a:solidFill>
              </a:rPr>
              <a:t>Read Kat's Legacy Chapter 11.</a:t>
            </a:r>
            <a:endParaRPr lang="en-US" sz="10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E5E7EB"/>
                </a:solidFill>
              </a:rPr>
              <a:t>Calculate your personal water target and hit it today.</a:t>
            </a:r>
            <a:endParaRPr lang="en-US" sz="10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E5E7EB"/>
                </a:solidFill>
              </a:rPr>
              <a:t>Start morning lemon-salt water ritual.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0B0C"/>
          </a:solidFill>
          <a:ln w="12700">
            <a:solidFill>
              <a:srgbClr val="0B0B0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C26B"/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2B1A12"/>
          </a:solidFill>
          <a:ln w="12700">
            <a:solidFill>
              <a:srgbClr val="2B1A1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0" y="-731520"/>
            <a:ext cx="2194560" cy="2194560"/>
          </a:xfrm>
          <a:prstGeom prst="ellipse">
            <a:avLst/>
          </a:prstGeom>
          <a:solidFill>
            <a:srgbClr val="F5C26B">
              <a:alpha val="12000"/>
            </a:srgbClr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-548640" y="3840480"/>
            <a:ext cx="1645920" cy="1645920"/>
          </a:xfrm>
          <a:prstGeom prst="ellipse">
            <a:avLst/>
          </a:prstGeom>
          <a:solidFill>
            <a:srgbClr val="6F5320">
              <a:alpha val="30000"/>
            </a:srgbClr>
          </a:solidFill>
          <a:ln w="12700">
            <a:solidFill>
              <a:srgbClr val="6F532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20040"/>
            <a:ext cx="777240" cy="777240"/>
          </a:xfrm>
          <a:prstGeom prst="ellipse">
            <a:avLst/>
          </a:prstGeom>
          <a:solidFill>
            <a:srgbClr val="F5C26B"/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3200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B0B0C"/>
                </a:solidFill>
              </a:rPr>
              <a:t>9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325880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C26B"/>
                </a:solidFill>
              </a:rPr>
              <a:t>DAY 9  ·  10 MIN SESSION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325880" y="658368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Colon Health, Elimination &amp; Detox Pathways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325880" y="11430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</a:rPr>
              <a:t>Chapter 10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02920" y="1417320"/>
            <a:ext cx="8138160" cy="685800"/>
          </a:xfrm>
          <a:prstGeom prst="roundRect">
            <a:avLst>
              <a:gd name="adj" fmla="val 8000"/>
            </a:avLst>
          </a:prstGeom>
          <a:solidFill>
            <a:srgbClr val="120904"/>
          </a:solidFill>
          <a:ln w="12700">
            <a:solidFill>
              <a:srgbClr val="6F532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1481328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5C26B"/>
                </a:solidFill>
              </a:rPr>
              <a:t>"Elimination is not optional — it is the exit door of detox. Open it."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2920" y="224028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Colon toxicity links to systemic disease — 5–25 lbs of accumulated waste is common before a proper cleanse (course refe…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Tools: prunes (5 after meals, adjust up/down), colon hydrotherapy/colonics on Day 3 of preparation, magnesium, triphala…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Stop toxins in → give digestion rest (10-hour processing window) → flush with water → support with antioxidants.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15000" y="2194560"/>
            <a:ext cx="2926080" cy="1965960"/>
          </a:xfrm>
          <a:prstGeom prst="roundRect">
            <a:avLst>
              <a:gd name="adj" fmla="val 3721"/>
            </a:avLst>
          </a:prstGeom>
          <a:solidFill>
            <a:srgbClr val="1A1410"/>
          </a:solidFill>
          <a:ln w="19050">
            <a:solidFill>
              <a:srgbClr val="F5C2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0" y="22860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C26B"/>
                </a:solidFill>
              </a:rPr>
              <a:t>YOUR MOVE TODAY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06440" y="2606040"/>
            <a:ext cx="26974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E5E7EB"/>
                </a:solidFill>
              </a:rPr>
              <a:t>Read Kat's Legacy Chapter 10.</a:t>
            </a:r>
            <a:endParaRPr lang="en-US" sz="10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E5E7EB"/>
                </a:solidFill>
              </a:rPr>
              <a:t>If in Preparation Phase: follow prune protocol and schedule colon cleanse for D…</a:t>
            </a:r>
            <a:endParaRPr lang="en-US" sz="10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E5E7EB"/>
                </a:solidFill>
              </a:rPr>
              <a:t>Add one fermented food to your day.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0B0C"/>
          </a:solidFill>
          <a:ln w="12700">
            <a:solidFill>
              <a:srgbClr val="0B0B0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C26B"/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2B1A12"/>
          </a:solidFill>
          <a:ln w="12700">
            <a:solidFill>
              <a:srgbClr val="2B1A1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0" y="-731520"/>
            <a:ext cx="2194560" cy="2194560"/>
          </a:xfrm>
          <a:prstGeom prst="ellipse">
            <a:avLst/>
          </a:prstGeom>
          <a:solidFill>
            <a:srgbClr val="F5C26B">
              <a:alpha val="12000"/>
            </a:srgbClr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-548640" y="3840480"/>
            <a:ext cx="1645920" cy="1645920"/>
          </a:xfrm>
          <a:prstGeom prst="ellipse">
            <a:avLst/>
          </a:prstGeom>
          <a:solidFill>
            <a:srgbClr val="6F5320">
              <a:alpha val="30000"/>
            </a:srgbClr>
          </a:solidFill>
          <a:ln w="12700">
            <a:solidFill>
              <a:srgbClr val="6F532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46304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5C2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III — FUEL THE REPAIR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502920" y="224028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5E7EB"/>
                </a:solidFill>
              </a:rPr>
              <a:t>Days 10–12 · Kat's JOL · Superfoods · Autophagy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200400" y="2926080"/>
            <a:ext cx="2743200" cy="0"/>
          </a:xfrm>
          <a:prstGeom prst="line">
            <a:avLst/>
          </a:prstGeom>
          <a:noFill/>
          <a:ln w="25400">
            <a:solidFill>
              <a:srgbClr val="F5C26B"/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0B0C"/>
          </a:solidFill>
          <a:ln w="12700">
            <a:solidFill>
              <a:srgbClr val="0B0B0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C26B"/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2B1A12"/>
          </a:solidFill>
          <a:ln w="12700">
            <a:solidFill>
              <a:srgbClr val="2B1A1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0" y="-731520"/>
            <a:ext cx="2194560" cy="2194560"/>
          </a:xfrm>
          <a:prstGeom prst="ellipse">
            <a:avLst/>
          </a:prstGeom>
          <a:solidFill>
            <a:srgbClr val="F5C26B">
              <a:alpha val="12000"/>
            </a:srgbClr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-548640" y="3840480"/>
            <a:ext cx="1645920" cy="1645920"/>
          </a:xfrm>
          <a:prstGeom prst="ellipse">
            <a:avLst/>
          </a:prstGeom>
          <a:solidFill>
            <a:srgbClr val="6F5320">
              <a:alpha val="30000"/>
            </a:srgbClr>
          </a:solidFill>
          <a:ln w="12700">
            <a:solidFill>
              <a:srgbClr val="6F532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20040"/>
            <a:ext cx="777240" cy="777240"/>
          </a:xfrm>
          <a:prstGeom prst="ellipse">
            <a:avLst/>
          </a:prstGeom>
          <a:solidFill>
            <a:srgbClr val="F5C26B"/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3200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B0B0C"/>
                </a:solidFill>
              </a:rPr>
              <a:t>10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325880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C26B"/>
                </a:solidFill>
              </a:rPr>
              <a:t>DAY 10  ·  10 MIN SESSION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325880" y="658368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Kat's JOL™ — The Juice of Life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325880" y="11430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</a:rPr>
              <a:t>Introduction + Four-Week Reset / Kat's JOL Recipe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02920" y="1417320"/>
            <a:ext cx="8138160" cy="685800"/>
          </a:xfrm>
          <a:prstGeom prst="roundRect">
            <a:avLst>
              <a:gd name="adj" fmla="val 8000"/>
            </a:avLst>
          </a:prstGeom>
          <a:solidFill>
            <a:srgbClr val="120904"/>
          </a:solidFill>
          <a:ln w="12700">
            <a:solidFill>
              <a:srgbClr val="6F532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1481328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5C26B"/>
                </a:solidFill>
              </a:rPr>
              <a:t>"Kat's JOL was tested on a father's own body before it touched his daughter. That is the standard you hold today."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2920" y="224028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Kat's JOL combines kale, moringa, leafy greens, beets, peas, apple, ginger, citrus, celery, carrot, banana, cucumber, z…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Prepare with alkaline water — yields three 500 ml servings: morning, midday, ~5 PM (last food of the day).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Vegetable soup (weekly, 3×): chard, kale, squash, zucchini, cucumber, onion, garlic, celery, potatoes with skin, cabbag…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15000" y="2194560"/>
            <a:ext cx="2926080" cy="1965960"/>
          </a:xfrm>
          <a:prstGeom prst="roundRect">
            <a:avLst>
              <a:gd name="adj" fmla="val 3721"/>
            </a:avLst>
          </a:prstGeom>
          <a:solidFill>
            <a:srgbClr val="1A1410"/>
          </a:solidFill>
          <a:ln w="19050">
            <a:solidFill>
              <a:srgbClr val="F5C2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0" y="22860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C26B"/>
                </a:solidFill>
              </a:rPr>
              <a:t>YOUR MOVE TODAY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06440" y="2606040"/>
            <a:ext cx="26974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E5E7EB"/>
                </a:solidFill>
              </a:rPr>
              <a:t>Read the Kat's JOL recipe section at the end of Kat's Legacy.</a:t>
            </a:r>
            <a:endParaRPr lang="en-US" sz="10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E5E7EB"/>
                </a:solidFill>
              </a:rPr>
              <a:t>Source ingredients and prepare your first JOL batch — or confirm your supply ch…</a:t>
            </a:r>
            <a:endParaRPr lang="en-US" sz="10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E5E7EB"/>
                </a:solidFill>
              </a:rPr>
              <a:t>Photograph your first JOL — Transformation Book chapter moment.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0B0C"/>
          </a:solidFill>
          <a:ln w="12700">
            <a:solidFill>
              <a:srgbClr val="0B0B0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C26B"/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2B1A12"/>
          </a:solidFill>
          <a:ln w="12700">
            <a:solidFill>
              <a:srgbClr val="2B1A1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0" y="-731520"/>
            <a:ext cx="2194560" cy="2194560"/>
          </a:xfrm>
          <a:prstGeom prst="ellipse">
            <a:avLst/>
          </a:prstGeom>
          <a:solidFill>
            <a:srgbClr val="F5C26B">
              <a:alpha val="12000"/>
            </a:srgbClr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-548640" y="3840480"/>
            <a:ext cx="1645920" cy="1645920"/>
          </a:xfrm>
          <a:prstGeom prst="ellipse">
            <a:avLst/>
          </a:prstGeom>
          <a:solidFill>
            <a:srgbClr val="6F5320">
              <a:alpha val="30000"/>
            </a:srgbClr>
          </a:solidFill>
          <a:ln w="12700">
            <a:solidFill>
              <a:srgbClr val="6F532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20040"/>
            <a:ext cx="777240" cy="777240"/>
          </a:xfrm>
          <a:prstGeom prst="ellipse">
            <a:avLst/>
          </a:prstGeom>
          <a:solidFill>
            <a:srgbClr val="F5C26B"/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3200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B0B0C"/>
                </a:solidFill>
              </a:rPr>
              <a:t>11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325880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C26B"/>
                </a:solidFill>
              </a:rPr>
              <a:t>DAY 11  ·  10 MIN SESSION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325880" y="658368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Superfoods, Ferments &amp; Cellular Nutrition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325880" y="11430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</a:rPr>
              <a:t>Chapters 3, 6, 11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02920" y="1417320"/>
            <a:ext cx="8138160" cy="685800"/>
          </a:xfrm>
          <a:prstGeom prst="roundRect">
            <a:avLst>
              <a:gd name="adj" fmla="val 8000"/>
            </a:avLst>
          </a:prstGeom>
          <a:solidFill>
            <a:srgbClr val="120904"/>
          </a:solidFill>
          <a:ln w="12700">
            <a:solidFill>
              <a:srgbClr val="6F532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1481328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5C26B"/>
                </a:solidFill>
              </a:rPr>
              <a:t>"You do not need more calories. You need more life in every bite."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2920" y="224028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Seven essential nutrients framework from the course — vitamins, minerals, protein, fats, carbohydrates (quality not qua…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Superfoods in the protocol: wheatgrass, mushrooms (Chaga), chia, turmeric, ginger, maca, spirulina, flax, cilantro (met…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Kale alone delivers 200% vitamin A, 134% vitamin C, 684% vitamin K per cup — why it anchors JOL.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15000" y="2194560"/>
            <a:ext cx="2926080" cy="1965960"/>
          </a:xfrm>
          <a:prstGeom prst="roundRect">
            <a:avLst>
              <a:gd name="adj" fmla="val 3721"/>
            </a:avLst>
          </a:prstGeom>
          <a:solidFill>
            <a:srgbClr val="1A1410"/>
          </a:solidFill>
          <a:ln w="19050">
            <a:solidFill>
              <a:srgbClr val="F5C2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0" y="22860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C26B"/>
                </a:solidFill>
              </a:rPr>
              <a:t>YOUR MOVE TODAY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06440" y="2606040"/>
            <a:ext cx="26974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E5E7EB"/>
                </a:solidFill>
              </a:rPr>
              <a:t>Add one new superfood from the list to today's JOL or meal.</a:t>
            </a:r>
            <a:endParaRPr lang="en-US" sz="10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E5E7EB"/>
                </a:solidFill>
              </a:rPr>
              <a:t>Read Kat's Legacy Chapter 6 (Energy &amp; Digestion).</a:t>
            </a:r>
            <a:endParaRPr lang="en-US" sz="10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E5E7EB"/>
                </a:solidFill>
              </a:rPr>
              <a:t>Log energy before and after meals — notice fatigue vs. fuel.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0B0C"/>
          </a:solidFill>
          <a:ln w="12700">
            <a:solidFill>
              <a:srgbClr val="0B0B0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C26B"/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2B1A12"/>
          </a:solidFill>
          <a:ln w="12700">
            <a:solidFill>
              <a:srgbClr val="2B1A1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0" y="-731520"/>
            <a:ext cx="2194560" cy="2194560"/>
          </a:xfrm>
          <a:prstGeom prst="ellipse">
            <a:avLst/>
          </a:prstGeom>
          <a:solidFill>
            <a:srgbClr val="F5C26B">
              <a:alpha val="12000"/>
            </a:srgbClr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-548640" y="3840480"/>
            <a:ext cx="1645920" cy="1645920"/>
          </a:xfrm>
          <a:prstGeom prst="ellipse">
            <a:avLst/>
          </a:prstGeom>
          <a:solidFill>
            <a:srgbClr val="6F5320">
              <a:alpha val="30000"/>
            </a:srgbClr>
          </a:solidFill>
          <a:ln w="12700">
            <a:solidFill>
              <a:srgbClr val="6F532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20040"/>
            <a:ext cx="777240" cy="777240"/>
          </a:xfrm>
          <a:prstGeom prst="ellipse">
            <a:avLst/>
          </a:prstGeom>
          <a:solidFill>
            <a:srgbClr val="F5C26B"/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3200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B0B0C"/>
                </a:solidFill>
              </a:rPr>
              <a:t>12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325880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C26B"/>
                </a:solidFill>
              </a:rPr>
              <a:t>DAY 12  ·  10 MIN SESSION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325880" y="658368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Autophagy — Your Cellular Recycling System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325880" y="11430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</a:rPr>
              <a:t>Chapter 7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02920" y="1417320"/>
            <a:ext cx="8138160" cy="685800"/>
          </a:xfrm>
          <a:prstGeom prst="roundRect">
            <a:avLst>
              <a:gd name="adj" fmla="val 8000"/>
            </a:avLst>
          </a:prstGeom>
          <a:solidFill>
            <a:srgbClr val="120904"/>
          </a:solidFill>
          <a:ln w="12700">
            <a:solidFill>
              <a:srgbClr val="6F532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1481328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5C26B"/>
                </a:solidFill>
              </a:rPr>
              <a:t>"At hour sixteen, your cells begin to eat what no longer serves them. Let them."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2920" y="224028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Autophagy (Greek: 'self-eating') — cells recycle damaged components, reduce inflammation, and renew structure (Yoshinor…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Activation timeline: 0–12 hrs glycogen use; 12–16 hrs fat transition; at ~16 hrs autophagy begins meaningfully.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Fasting tiers from the course: 8-hr eating window → 4-hr window → one meal per day — each deepens the clean-up.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15000" y="2194560"/>
            <a:ext cx="2926080" cy="1965960"/>
          </a:xfrm>
          <a:prstGeom prst="roundRect">
            <a:avLst>
              <a:gd name="adj" fmla="val 3721"/>
            </a:avLst>
          </a:prstGeom>
          <a:solidFill>
            <a:srgbClr val="1A1410"/>
          </a:solidFill>
          <a:ln w="19050">
            <a:solidFill>
              <a:srgbClr val="F5C2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0" y="22860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C26B"/>
                </a:solidFill>
              </a:rPr>
              <a:t>YOUR MOVE TODAY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06440" y="2606040"/>
            <a:ext cx="26974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E5E7EB"/>
                </a:solidFill>
              </a:rPr>
              <a:t>Read Kat's Legacy Chapter 7.</a:t>
            </a:r>
            <a:endParaRPr lang="en-US" sz="10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E5E7EB"/>
                </a:solidFill>
              </a:rPr>
              <a:t>If on Week 1: maintain 16:8 fasting with Kat's JOL — note the hour you last eat.</a:t>
            </a:r>
            <a:endParaRPr lang="en-US" sz="10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E5E7EB"/>
                </a:solidFill>
              </a:rPr>
              <a:t>Log mental clarity and inflammation changes as fasting windows hold.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0B0C"/>
          </a:solidFill>
          <a:ln w="12700">
            <a:solidFill>
              <a:srgbClr val="0B0B0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C26B"/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2B1A12"/>
          </a:solidFill>
          <a:ln w="12700">
            <a:solidFill>
              <a:srgbClr val="2B1A1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0" y="-731520"/>
            <a:ext cx="2194560" cy="2194560"/>
          </a:xfrm>
          <a:prstGeom prst="ellipse">
            <a:avLst/>
          </a:prstGeom>
          <a:solidFill>
            <a:srgbClr val="F5C26B">
              <a:alpha val="12000"/>
            </a:srgbClr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-548640" y="3840480"/>
            <a:ext cx="1645920" cy="1645920"/>
          </a:xfrm>
          <a:prstGeom prst="ellipse">
            <a:avLst/>
          </a:prstGeom>
          <a:solidFill>
            <a:srgbClr val="6F5320">
              <a:alpha val="30000"/>
            </a:srgbClr>
          </a:solidFill>
          <a:ln w="12700">
            <a:solidFill>
              <a:srgbClr val="6F532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46304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5C2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IV — LIVE THE PROTOCOL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502920" y="224028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5E7EB"/>
                </a:solidFill>
              </a:rPr>
              <a:t>Days 13–17 · Detox · Ketosis · Repair · Transition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200400" y="2926080"/>
            <a:ext cx="2743200" cy="0"/>
          </a:xfrm>
          <a:prstGeom prst="line">
            <a:avLst/>
          </a:prstGeom>
          <a:noFill/>
          <a:ln w="25400">
            <a:solidFill>
              <a:srgbClr val="F5C26B"/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0B0C"/>
          </a:solidFill>
          <a:ln w="12700">
            <a:solidFill>
              <a:srgbClr val="0B0B0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C26B"/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2B1A12"/>
          </a:solidFill>
          <a:ln w="12700">
            <a:solidFill>
              <a:srgbClr val="2B1A1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0" y="-731520"/>
            <a:ext cx="2194560" cy="2194560"/>
          </a:xfrm>
          <a:prstGeom prst="ellipse">
            <a:avLst/>
          </a:prstGeom>
          <a:solidFill>
            <a:srgbClr val="F5C26B">
              <a:alpha val="12000"/>
            </a:srgbClr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-548640" y="3840480"/>
            <a:ext cx="1645920" cy="1645920"/>
          </a:xfrm>
          <a:prstGeom prst="ellipse">
            <a:avLst/>
          </a:prstGeom>
          <a:solidFill>
            <a:srgbClr val="6F5320">
              <a:alpha val="30000"/>
            </a:srgbClr>
          </a:solidFill>
          <a:ln w="12700">
            <a:solidFill>
              <a:srgbClr val="6F532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20040"/>
            <a:ext cx="777240" cy="777240"/>
          </a:xfrm>
          <a:prstGeom prst="ellipse">
            <a:avLst/>
          </a:prstGeom>
          <a:solidFill>
            <a:srgbClr val="F5C26B"/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3200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B0B0C"/>
                </a:solidFill>
              </a:rPr>
              <a:t>13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325880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C26B"/>
                </a:solidFill>
              </a:rPr>
              <a:t>DAY 13  ·  10 MIN SESSION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325880" y="658368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Preparation Complete — Week 1 Detoxification Begins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325880" y="11430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</a:rPr>
              <a:t>Four-Week Reset — Preparation &amp; Week 1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02920" y="1417320"/>
            <a:ext cx="8138160" cy="685800"/>
          </a:xfrm>
          <a:prstGeom prst="roundRect">
            <a:avLst>
              <a:gd name="adj" fmla="val 8000"/>
            </a:avLst>
          </a:prstGeom>
          <a:solidFill>
            <a:srgbClr val="120904"/>
          </a:solidFill>
          <a:ln w="12700">
            <a:solidFill>
              <a:srgbClr val="6F532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1481328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5C26B"/>
                </a:solidFill>
              </a:rPr>
              <a:t>"Week one is not punishment. It is permission — permission to finally clear the path."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2920" y="224028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Preparation recap: warm lemon-salt water, prunes, Day-3 colon cleanse — colon must be ready.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Week 1 schedule: Mon–Sun JOL servings per EVENTO DE SALUD table — Thu reduces midday; Fri–Sat skip midday.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16 hours fasting / 8 hours eating — body clears toxins, depletes glycogen, begins autophagy at hour 16.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15000" y="2194560"/>
            <a:ext cx="2926080" cy="1965960"/>
          </a:xfrm>
          <a:prstGeom prst="roundRect">
            <a:avLst>
              <a:gd name="adj" fmla="val 3721"/>
            </a:avLst>
          </a:prstGeom>
          <a:solidFill>
            <a:srgbClr val="1A1410"/>
          </a:solidFill>
          <a:ln w="19050">
            <a:solidFill>
              <a:srgbClr val="F5C2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0" y="22860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C26B"/>
                </a:solidFill>
              </a:rPr>
              <a:t>YOUR MOVE TODAY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06440" y="2606040"/>
            <a:ext cx="26974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E5E7EB"/>
                </a:solidFill>
              </a:rPr>
              <a:t>Follow today's JOL volume from the Week 1 schedule table in Kat's Legacy.</a:t>
            </a:r>
            <a:endParaRPr lang="en-US" sz="10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E5E7EB"/>
                </a:solidFill>
              </a:rPr>
              <a:t>Complete full daily transformation log with photos.</a:t>
            </a:r>
            <a:endParaRPr lang="en-US" sz="10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E5E7EB"/>
                </a:solidFill>
              </a:rPr>
              <a:t>Confirm 16-hour fast window — write eating window times.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0B0C"/>
          </a:solidFill>
          <a:ln w="12700">
            <a:solidFill>
              <a:srgbClr val="0B0B0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C26B"/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2B1A12"/>
          </a:solidFill>
          <a:ln w="12700">
            <a:solidFill>
              <a:srgbClr val="2B1A1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0" y="-731520"/>
            <a:ext cx="2194560" cy="2194560"/>
          </a:xfrm>
          <a:prstGeom prst="ellipse">
            <a:avLst/>
          </a:prstGeom>
          <a:solidFill>
            <a:srgbClr val="F5C26B">
              <a:alpha val="12000"/>
            </a:srgbClr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-548640" y="3840480"/>
            <a:ext cx="1645920" cy="1645920"/>
          </a:xfrm>
          <a:prstGeom prst="ellipse">
            <a:avLst/>
          </a:prstGeom>
          <a:solidFill>
            <a:srgbClr val="6F5320">
              <a:alpha val="30000"/>
            </a:srgbClr>
          </a:solidFill>
          <a:ln w="12700">
            <a:solidFill>
              <a:srgbClr val="6F532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20040"/>
            <a:ext cx="777240" cy="777240"/>
          </a:xfrm>
          <a:prstGeom prst="ellipse">
            <a:avLst/>
          </a:prstGeom>
          <a:solidFill>
            <a:srgbClr val="F5C26B"/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3200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B0B0C"/>
                </a:solidFill>
              </a:rPr>
              <a:t>14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325880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C26B"/>
                </a:solidFill>
              </a:rPr>
              <a:t>DAY 14  ·  10 MIN SESSION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325880" y="658368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Ketosis — Fat as Clean Fuel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325880" y="11430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</a:rPr>
              <a:t>Chapter 8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02920" y="1417320"/>
            <a:ext cx="8138160" cy="685800"/>
          </a:xfrm>
          <a:prstGeom prst="roundRect">
            <a:avLst>
              <a:gd name="adj" fmla="val 8000"/>
            </a:avLst>
          </a:prstGeom>
          <a:solidFill>
            <a:srgbClr val="120904"/>
          </a:solidFill>
          <a:ln w="12700">
            <a:solidFill>
              <a:srgbClr val="6F532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1481328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5C26B"/>
                </a:solidFill>
              </a:rPr>
              <a:t>"Your brain was never meant to run on sugar alone. Ketones are clarity arriving."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2920" y="224028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Ketosis: liver converts fat to β-hydroxybutyrate, acetoacetate, acetone — anti-inflammatory brain and body fuel.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Carbohydrate ceiling: ~20–50 g/day to maintain ketosis (Kat's Legacy Ch. 8).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The brain uses glucose OR ketones — coconut oil and MCTs supply ketones; Dr. Mary Newport's Alzheimer's case used keton…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15000" y="2194560"/>
            <a:ext cx="2926080" cy="1965960"/>
          </a:xfrm>
          <a:prstGeom prst="roundRect">
            <a:avLst>
              <a:gd name="adj" fmla="val 3721"/>
            </a:avLst>
          </a:prstGeom>
          <a:solidFill>
            <a:srgbClr val="1A1410"/>
          </a:solidFill>
          <a:ln w="19050">
            <a:solidFill>
              <a:srgbClr val="F5C2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0" y="22860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C26B"/>
                </a:solidFill>
              </a:rPr>
              <a:t>YOUR MOVE TODAY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06440" y="2606040"/>
            <a:ext cx="26974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E5E7EB"/>
                </a:solidFill>
              </a:rPr>
              <a:t>Read Kat's Legacy Chapter 8.</a:t>
            </a:r>
            <a:endParaRPr lang="en-US" sz="10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E5E7EB"/>
                </a:solidFill>
              </a:rPr>
              <a:t>If entering Week 2: compress eating to 4-hour window today.</a:t>
            </a:r>
            <a:endParaRPr lang="en-US" sz="10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E5E7EB"/>
                </a:solidFill>
              </a:rPr>
              <a:t>Remove remaining high-carb items from your environment.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0B0C"/>
          </a:solidFill>
          <a:ln w="12700">
            <a:solidFill>
              <a:srgbClr val="0B0B0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C26B"/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2B1A12"/>
          </a:solidFill>
          <a:ln w="12700">
            <a:solidFill>
              <a:srgbClr val="2B1A1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0" y="-731520"/>
            <a:ext cx="2194560" cy="2194560"/>
          </a:xfrm>
          <a:prstGeom prst="ellipse">
            <a:avLst/>
          </a:prstGeom>
          <a:solidFill>
            <a:srgbClr val="F5C26B">
              <a:alpha val="12000"/>
            </a:srgbClr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-548640" y="3840480"/>
            <a:ext cx="1645920" cy="1645920"/>
          </a:xfrm>
          <a:prstGeom prst="ellipse">
            <a:avLst/>
          </a:prstGeom>
          <a:solidFill>
            <a:srgbClr val="6F5320">
              <a:alpha val="30000"/>
            </a:srgbClr>
          </a:solidFill>
          <a:ln w="12700">
            <a:solidFill>
              <a:srgbClr val="6F532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20040"/>
            <a:ext cx="777240" cy="777240"/>
          </a:xfrm>
          <a:prstGeom prst="ellipse">
            <a:avLst/>
          </a:prstGeom>
          <a:solidFill>
            <a:srgbClr val="F5C26B"/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3200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B0B0C"/>
                </a:solidFill>
              </a:rPr>
              <a:t>15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325880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C26B"/>
                </a:solidFill>
              </a:rPr>
              <a:t>DAY 15  ·  10 MIN SESSION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325880" y="658368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Cellular Repair &amp; The Body's Healing Intelligence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325880" y="11430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</a:rPr>
              <a:t>Chapter 9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02920" y="1417320"/>
            <a:ext cx="8138160" cy="685800"/>
          </a:xfrm>
          <a:prstGeom prst="roundRect">
            <a:avLst>
              <a:gd name="adj" fmla="val 8000"/>
            </a:avLst>
          </a:prstGeom>
          <a:solidFill>
            <a:srgbClr val="120904"/>
          </a:solidFill>
          <a:ln w="12700">
            <a:solidFill>
              <a:srgbClr val="6F532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1481328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5C26B"/>
                </a:solidFill>
              </a:rPr>
              <a:t>"Surgery holds the wound together. Your body does the healing. Trust the intelligence inside you."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2920" y="224028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Heart surgery sutures do not heal — they hold tissue while the body repairs (Chronic Illnesses article opening).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Apoptosis: programmed cell death removes damaged cells — autophagy and ketosis support this precision.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Neuroregeneration: peripheral nerves can regrow; ketones support brain repair (course + Newport case).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15000" y="2194560"/>
            <a:ext cx="2926080" cy="1965960"/>
          </a:xfrm>
          <a:prstGeom prst="roundRect">
            <a:avLst>
              <a:gd name="adj" fmla="val 3721"/>
            </a:avLst>
          </a:prstGeom>
          <a:solidFill>
            <a:srgbClr val="1A1410"/>
          </a:solidFill>
          <a:ln w="19050">
            <a:solidFill>
              <a:srgbClr val="F5C2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0" y="22860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C26B"/>
                </a:solidFill>
              </a:rPr>
              <a:t>YOUR MOVE TODAY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06440" y="2606040"/>
            <a:ext cx="26974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E5E7EB"/>
                </a:solidFill>
              </a:rPr>
              <a:t>Read Kat's Legacy Chapter 9.</a:t>
            </a:r>
            <a:endParaRPr lang="en-US" sz="10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E5E7EB"/>
                </a:solidFill>
              </a:rPr>
              <a:t>Take comparison photos — same angles as Day 1.</a:t>
            </a:r>
            <a:endParaRPr lang="en-US" sz="10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E5E7EB"/>
                </a:solidFill>
              </a:rPr>
              <a:t>Practice 10-minute gratitude meditation or prayer.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0B0C"/>
          </a:solidFill>
          <a:ln w="12700">
            <a:solidFill>
              <a:srgbClr val="0B0B0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C26B"/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2B1A12"/>
          </a:solidFill>
          <a:ln w="12700">
            <a:solidFill>
              <a:srgbClr val="2B1A1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0" y="-731520"/>
            <a:ext cx="2194560" cy="2194560"/>
          </a:xfrm>
          <a:prstGeom prst="ellipse">
            <a:avLst/>
          </a:prstGeom>
          <a:solidFill>
            <a:srgbClr val="F5C26B">
              <a:alpha val="12000"/>
            </a:srgbClr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-548640" y="3840480"/>
            <a:ext cx="1645920" cy="1645920"/>
          </a:xfrm>
          <a:prstGeom prst="ellipse">
            <a:avLst/>
          </a:prstGeom>
          <a:solidFill>
            <a:srgbClr val="6F5320">
              <a:alpha val="30000"/>
            </a:srgbClr>
          </a:solidFill>
          <a:ln w="12700">
            <a:solidFill>
              <a:srgbClr val="6F532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20040"/>
            <a:ext cx="777240" cy="777240"/>
          </a:xfrm>
          <a:prstGeom prst="ellipse">
            <a:avLst/>
          </a:prstGeom>
          <a:solidFill>
            <a:srgbClr val="F5C26B"/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3200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B0B0C"/>
                </a:solidFill>
              </a:rPr>
              <a:t>16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325880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C26B"/>
                </a:solidFill>
              </a:rPr>
              <a:t>DAY 16  ·  10 MIN SESSION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325880" y="658368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Mental Health, Meditation &amp; Emotional Sustainability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325880" y="11430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</a:rPr>
              <a:t>Chapter 6 + Four-Week Reset spiritual notes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02920" y="1417320"/>
            <a:ext cx="8138160" cy="685800"/>
          </a:xfrm>
          <a:prstGeom prst="roundRect">
            <a:avLst>
              <a:gd name="adj" fmla="val 8000"/>
            </a:avLst>
          </a:prstGeom>
          <a:solidFill>
            <a:srgbClr val="120904"/>
          </a:solidFill>
          <a:ln w="12700">
            <a:solidFill>
              <a:srgbClr val="6F532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1481328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5C26B"/>
                </a:solidFill>
              </a:rPr>
              <a:t>"Sustainability is not willpower. It is the mind learning to serve the body, not govern it."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2920" y="224028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Warning signs of mental health strain: sleep changes, isolation, numbness, unexplained pain, hopeless thoughts — seek p…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Meditation tools from course: Wim Hof Method (breath + cold), Eckhart Tolle (present moment), Wayne Dyer (intention), A…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The Gospel of Thomas teaching (course spirituality): make inner like outer — alignment of imagined self and physical ac…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15000" y="2194560"/>
            <a:ext cx="2926080" cy="1965960"/>
          </a:xfrm>
          <a:prstGeom prst="roundRect">
            <a:avLst>
              <a:gd name="adj" fmla="val 3721"/>
            </a:avLst>
          </a:prstGeom>
          <a:solidFill>
            <a:srgbClr val="1A1410"/>
          </a:solidFill>
          <a:ln w="19050">
            <a:solidFill>
              <a:srgbClr val="F5C2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0" y="22860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C26B"/>
                </a:solidFill>
              </a:rPr>
              <a:t>YOUR MOVE TODAY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06440" y="2606040"/>
            <a:ext cx="26974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E5E7EB"/>
                </a:solidFill>
              </a:rPr>
              <a:t>Read Kat's Legacy Chapter 6 (Energy &amp; Digestion).</a:t>
            </a:r>
            <a:endParaRPr lang="en-US" sz="10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E5E7EB"/>
                </a:solidFill>
              </a:rPr>
              <a:t>Try one meditation method from today's session — log how you feel after.</a:t>
            </a:r>
            <a:endParaRPr lang="en-US" sz="10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E5E7EB"/>
                </a:solidFill>
              </a:rPr>
              <a:t>If on Week 3: introduce first light ketogenic meal per schedule.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0B0C"/>
          </a:solidFill>
          <a:ln w="12700">
            <a:solidFill>
              <a:srgbClr val="0B0B0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C26B"/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2B1A12"/>
          </a:solidFill>
          <a:ln w="12700">
            <a:solidFill>
              <a:srgbClr val="2B1A1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0" y="-731520"/>
            <a:ext cx="2194560" cy="2194560"/>
          </a:xfrm>
          <a:prstGeom prst="ellipse">
            <a:avLst/>
          </a:prstGeom>
          <a:solidFill>
            <a:srgbClr val="F5C26B">
              <a:alpha val="12000"/>
            </a:srgbClr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-548640" y="3840480"/>
            <a:ext cx="1645920" cy="1645920"/>
          </a:xfrm>
          <a:prstGeom prst="ellipse">
            <a:avLst/>
          </a:prstGeom>
          <a:solidFill>
            <a:srgbClr val="6F5320">
              <a:alpha val="30000"/>
            </a:srgbClr>
          </a:solidFill>
          <a:ln w="12700">
            <a:solidFill>
              <a:srgbClr val="6F532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20040"/>
            <a:ext cx="777240" cy="777240"/>
          </a:xfrm>
          <a:prstGeom prst="ellipse">
            <a:avLst/>
          </a:prstGeom>
          <a:solidFill>
            <a:srgbClr val="F5C26B"/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3200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B0B0C"/>
                </a:solidFill>
              </a:rPr>
              <a:t>17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325880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C26B"/>
                </a:solidFill>
              </a:rPr>
              <a:t>DAY 17  ·  10 MIN SESSION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325880" y="658368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 3–4 Transition — Soups, Broth &amp; Ketogenic Meals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325880" y="11430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</a:rPr>
              <a:t>Four-Week Reset — Weeks 3 &amp; 4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02920" y="1417320"/>
            <a:ext cx="8138160" cy="685800"/>
          </a:xfrm>
          <a:prstGeom prst="roundRect">
            <a:avLst>
              <a:gd name="adj" fmla="val 8000"/>
            </a:avLst>
          </a:prstGeom>
          <a:solidFill>
            <a:srgbClr val="120904"/>
          </a:solidFill>
          <a:ln w="12700">
            <a:solidFill>
              <a:srgbClr val="6F532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1481328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5C26B"/>
                </a:solidFill>
              </a:rPr>
              <a:t>"Solids return gently — like spring after winter. Rush it, and you lose everything you built."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2920" y="224028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Week 3: reduce JOL volumes, introduce ketogenic meals (meat + vegetables) on Sat–Sun per schedule — 16:8 maintained.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Week 4: morning JOL → bone broth midday → ketogenic dinner; vegetable soup 3× weekly; full ketogenic meals by weekend.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Bone broth and vegetable soup provide collagen, minerals, and amino acids without shocking the gut.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15000" y="2194560"/>
            <a:ext cx="2926080" cy="1965960"/>
          </a:xfrm>
          <a:prstGeom prst="roundRect">
            <a:avLst>
              <a:gd name="adj" fmla="val 3721"/>
            </a:avLst>
          </a:prstGeom>
          <a:solidFill>
            <a:srgbClr val="1A1410"/>
          </a:solidFill>
          <a:ln w="19050">
            <a:solidFill>
              <a:srgbClr val="F5C2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0" y="22860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C26B"/>
                </a:solidFill>
              </a:rPr>
              <a:t>YOUR MOVE TODAY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06440" y="2606040"/>
            <a:ext cx="26974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E5E7EB"/>
                </a:solidFill>
              </a:rPr>
              <a:t>Follow your week's schedule table from Kat's Legacy Four-Week Reset.</a:t>
            </a:r>
            <a:endParaRPr lang="en-US" sz="10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E5E7EB"/>
                </a:solidFill>
              </a:rPr>
              <a:t>Prepare bone broth or vegetable soup if scheduled this week.</a:t>
            </a:r>
            <a:endParaRPr lang="en-US" sz="10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E5E7EB"/>
                </a:solidFill>
              </a:rPr>
              <a:t>Log digestive response to reintroduced solids — bloating, energy, satisfaction.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0B0C"/>
          </a:solidFill>
          <a:ln w="12700">
            <a:solidFill>
              <a:srgbClr val="0B0B0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C26B"/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2B1A12"/>
          </a:solidFill>
          <a:ln w="12700">
            <a:solidFill>
              <a:srgbClr val="2B1A1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0" y="-731520"/>
            <a:ext cx="2194560" cy="2194560"/>
          </a:xfrm>
          <a:prstGeom prst="ellipse">
            <a:avLst/>
          </a:prstGeom>
          <a:solidFill>
            <a:srgbClr val="F5C26B">
              <a:alpha val="12000"/>
            </a:srgbClr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-548640" y="3840480"/>
            <a:ext cx="1645920" cy="1645920"/>
          </a:xfrm>
          <a:prstGeom prst="ellipse">
            <a:avLst/>
          </a:prstGeom>
          <a:solidFill>
            <a:srgbClr val="6F5320">
              <a:alpha val="30000"/>
            </a:srgbClr>
          </a:solidFill>
          <a:ln w="12700">
            <a:solidFill>
              <a:srgbClr val="6F532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46304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5C2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V — OWN YOUR LEGACY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502920" y="224028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5E7EB"/>
                </a:solidFill>
              </a:rPr>
              <a:t>Days 18–20 · Body Language · Faith · Celebration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200400" y="2926080"/>
            <a:ext cx="2743200" cy="0"/>
          </a:xfrm>
          <a:prstGeom prst="line">
            <a:avLst/>
          </a:prstGeom>
          <a:noFill/>
          <a:ln w="25400">
            <a:solidFill>
              <a:srgbClr val="F5C26B"/>
            </a:solidFill>
            <a:prstDash val="solid"/>
          </a:ln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0B0C"/>
          </a:solidFill>
          <a:ln w="12700">
            <a:solidFill>
              <a:srgbClr val="0B0B0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C26B"/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2B1A12"/>
          </a:solidFill>
          <a:ln w="12700">
            <a:solidFill>
              <a:srgbClr val="2B1A1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0" y="-731520"/>
            <a:ext cx="2194560" cy="2194560"/>
          </a:xfrm>
          <a:prstGeom prst="ellipse">
            <a:avLst/>
          </a:prstGeom>
          <a:solidFill>
            <a:srgbClr val="F5C26B">
              <a:alpha val="12000"/>
            </a:srgbClr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-548640" y="3840480"/>
            <a:ext cx="1645920" cy="1645920"/>
          </a:xfrm>
          <a:prstGeom prst="ellipse">
            <a:avLst/>
          </a:prstGeom>
          <a:solidFill>
            <a:srgbClr val="6F5320">
              <a:alpha val="30000"/>
            </a:srgbClr>
          </a:solidFill>
          <a:ln w="12700">
            <a:solidFill>
              <a:srgbClr val="6F532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20040"/>
            <a:ext cx="777240" cy="777240"/>
          </a:xfrm>
          <a:prstGeom prst="ellipse">
            <a:avLst/>
          </a:prstGeom>
          <a:solidFill>
            <a:srgbClr val="F5C26B"/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3200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B0B0C"/>
                </a:solidFill>
              </a:rPr>
              <a:t>18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325880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C26B"/>
                </a:solidFill>
              </a:rPr>
              <a:t>DAY 18  ·  10 MIN SESSION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325880" y="658368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Body's Language — Alerts, Benchmarks &amp; Longevity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325880" y="11430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</a:rPr>
              <a:t>Four-Week Reset — Final Reflections + Introduction goals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02920" y="1417320"/>
            <a:ext cx="8138160" cy="685800"/>
          </a:xfrm>
          <a:prstGeom prst="roundRect">
            <a:avLst>
              <a:gd name="adj" fmla="val 8000"/>
            </a:avLst>
          </a:prstGeom>
          <a:solidFill>
            <a:srgbClr val="120904"/>
          </a:solidFill>
          <a:ln w="12700">
            <a:solidFill>
              <a:srgbClr val="6F532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1481328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5C26B"/>
                </a:solidFill>
              </a:rPr>
              <a:t>"Dry skin, fatigue, cravings — these are not random. They are your body speaking. Learn the language."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2920" y="224028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Body alerts: dry mouth, dry skin, spots, aches, acne, fatigue, hair loss — each is a message, not random bad luck.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Reset the alarms by responding with protocol adherence — not suppression with snacks or stimulants.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Shift attention from taste pleasure to body need — the course calls this transforming gustatory attention to cellular n…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15000" y="2194560"/>
            <a:ext cx="2926080" cy="1965960"/>
          </a:xfrm>
          <a:prstGeom prst="roundRect">
            <a:avLst>
              <a:gd name="adj" fmla="val 3721"/>
            </a:avLst>
          </a:prstGeom>
          <a:solidFill>
            <a:srgbClr val="1A1410"/>
          </a:solidFill>
          <a:ln w="19050">
            <a:solidFill>
              <a:srgbClr val="F5C2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0" y="22860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C26B"/>
                </a:solidFill>
              </a:rPr>
              <a:t>YOUR MOVE TODAY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06440" y="2606040"/>
            <a:ext cx="26974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E5E7EB"/>
                </a:solidFill>
              </a:rPr>
              <a:t>Re-read your Day 1 benchmark — compare honestly to today.</a:t>
            </a:r>
            <a:endParaRPr lang="en-US" sz="10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E5E7EB"/>
                </a:solidFill>
              </a:rPr>
              <a:t>List 3 body signals you now understand that you ignored before.</a:t>
            </a:r>
            <a:endParaRPr lang="en-US" sz="10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E5E7EB"/>
                </a:solidFill>
              </a:rPr>
              <a:t>Update Health Benchmark™ scores in daily log.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0B0C"/>
          </a:solidFill>
          <a:ln w="12700">
            <a:solidFill>
              <a:srgbClr val="0B0B0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C26B"/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2B1A12"/>
          </a:solidFill>
          <a:ln w="12700">
            <a:solidFill>
              <a:srgbClr val="2B1A1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0" y="-731520"/>
            <a:ext cx="2194560" cy="2194560"/>
          </a:xfrm>
          <a:prstGeom prst="ellipse">
            <a:avLst/>
          </a:prstGeom>
          <a:solidFill>
            <a:srgbClr val="F5C26B">
              <a:alpha val="12000"/>
            </a:srgbClr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-548640" y="3840480"/>
            <a:ext cx="1645920" cy="1645920"/>
          </a:xfrm>
          <a:prstGeom prst="ellipse">
            <a:avLst/>
          </a:prstGeom>
          <a:solidFill>
            <a:srgbClr val="6F5320">
              <a:alpha val="30000"/>
            </a:srgbClr>
          </a:solidFill>
          <a:ln w="12700">
            <a:solidFill>
              <a:srgbClr val="6F532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20040"/>
            <a:ext cx="777240" cy="777240"/>
          </a:xfrm>
          <a:prstGeom prst="ellipse">
            <a:avLst/>
          </a:prstGeom>
          <a:solidFill>
            <a:srgbClr val="F5C26B"/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3200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B0B0C"/>
                </a:solidFill>
              </a:rPr>
              <a:t>19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325880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C26B"/>
                </a:solidFill>
              </a:rPr>
              <a:t>DAY 19  ·  10 MIN SESSION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325880" y="658368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Healing Methods, Faith &amp; the Rejuvenation Mindset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325880" y="11430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</a:rPr>
              <a:t>Chapters 7–10 synthesis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02920" y="1417320"/>
            <a:ext cx="8138160" cy="685800"/>
          </a:xfrm>
          <a:prstGeom prst="roundRect">
            <a:avLst>
              <a:gd name="adj" fmla="val 8000"/>
            </a:avLst>
          </a:prstGeom>
          <a:solidFill>
            <a:srgbClr val="120904"/>
          </a:solidFill>
          <a:ln w="12700">
            <a:solidFill>
              <a:srgbClr val="6F532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1481328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5C26B"/>
                </a:solidFill>
              </a:rPr>
              <a:t>"Science and faith are not opponents here. Gratitude is the amplifier of repair."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2920" y="224028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Healing traditions converge: Gerson (plant nutrition), Warburg (oxygen + alkaline + no sugar), fasting (autophagy), JOL…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21-day significance from course: 3 weeks × 7 days — habit formation, adulthood metaphor, pattern completion.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Masaru Emoto water intention (Kat's JOL preparation): consciousness in preparation affects the healing vehicle.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15000" y="2194560"/>
            <a:ext cx="2926080" cy="1965960"/>
          </a:xfrm>
          <a:prstGeom prst="roundRect">
            <a:avLst>
              <a:gd name="adj" fmla="val 3721"/>
            </a:avLst>
          </a:prstGeom>
          <a:solidFill>
            <a:srgbClr val="1A1410"/>
          </a:solidFill>
          <a:ln w="19050">
            <a:solidFill>
              <a:srgbClr val="F5C2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0" y="22860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C26B"/>
                </a:solidFill>
              </a:rPr>
              <a:t>YOUR MOVE TODAY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06440" y="2606040"/>
            <a:ext cx="26974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E5E7EB"/>
                </a:solidFill>
              </a:rPr>
              <a:t>Write a gratitude letter to your body — include it in your Transformation Book.</a:t>
            </a:r>
            <a:endParaRPr lang="en-US" sz="10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E5E7EB"/>
                </a:solidFill>
              </a:rPr>
              <a:t>Review all 19 prior daily log entries — notice the arc.</a:t>
            </a:r>
            <a:endParaRPr lang="en-US" sz="10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E5E7EB"/>
                </a:solidFill>
              </a:rPr>
              <a:t>Prepare celebration week intentions: how will you honor completion?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0B0C"/>
          </a:solidFill>
          <a:ln w="12700">
            <a:solidFill>
              <a:srgbClr val="0B0B0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C26B"/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2B1A12"/>
          </a:solidFill>
          <a:ln w="12700">
            <a:solidFill>
              <a:srgbClr val="2B1A1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0" y="-731520"/>
            <a:ext cx="2194560" cy="2194560"/>
          </a:xfrm>
          <a:prstGeom prst="ellipse">
            <a:avLst/>
          </a:prstGeom>
          <a:solidFill>
            <a:srgbClr val="F5C26B">
              <a:alpha val="12000"/>
            </a:srgbClr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-548640" y="3840480"/>
            <a:ext cx="1645920" cy="1645920"/>
          </a:xfrm>
          <a:prstGeom prst="ellipse">
            <a:avLst/>
          </a:prstGeom>
          <a:solidFill>
            <a:srgbClr val="6F5320">
              <a:alpha val="30000"/>
            </a:srgbClr>
          </a:solidFill>
          <a:ln w="12700">
            <a:solidFill>
              <a:srgbClr val="6F532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20040"/>
            <a:ext cx="777240" cy="777240"/>
          </a:xfrm>
          <a:prstGeom prst="ellipse">
            <a:avLst/>
          </a:prstGeom>
          <a:solidFill>
            <a:srgbClr val="F5C26B"/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3200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B0B0C"/>
                </a:solidFill>
              </a:rPr>
              <a:t>20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325880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C26B"/>
                </a:solidFill>
              </a:rPr>
              <a:t>DAY 20  ·  10 MIN SESSION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325880" y="658368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Celebration, Maintenance &amp; Authoring Your Legacy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325880" y="11430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</a:rPr>
              <a:t>Four-Week Reset — After Completion + Full book arc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02920" y="1417320"/>
            <a:ext cx="8138160" cy="685800"/>
          </a:xfrm>
          <a:prstGeom prst="roundRect">
            <a:avLst>
              <a:gd name="adj" fmla="val 8000"/>
            </a:avLst>
          </a:prstGeom>
          <a:solidFill>
            <a:srgbClr val="120904"/>
          </a:solidFill>
          <a:ln w="12700">
            <a:solidFill>
              <a:srgbClr val="6F532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1481328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5C26B"/>
                </a:solidFill>
              </a:rPr>
              <a:t>"You did not just survive twenty days. You authored the opening chapters of your transformation."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2920" y="224028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Compare baseline photos and journal to today — the Transformation Book is already being written.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Celebration week is not abandonment — it is integrated maintenance: ketogenic habits, JOL or soups, fasting rhythm, hyd…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Corrective / preventive / autonomous maintenance (Day 1) — you now operate in autonomous mode with REJU support.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15000" y="2194560"/>
            <a:ext cx="2926080" cy="1965960"/>
          </a:xfrm>
          <a:prstGeom prst="roundRect">
            <a:avLst>
              <a:gd name="adj" fmla="val 3721"/>
            </a:avLst>
          </a:prstGeom>
          <a:solidFill>
            <a:srgbClr val="1A1410"/>
          </a:solidFill>
          <a:ln w="19050">
            <a:solidFill>
              <a:srgbClr val="F5C2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0" y="22860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C26B"/>
                </a:solidFill>
              </a:rPr>
              <a:t>YOUR MOVE TODAY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06440" y="2606040"/>
            <a:ext cx="26974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E5E7EB"/>
                </a:solidFill>
              </a:rPr>
              <a:t>Take final comparison photos for this 20-day instruction arc.</a:t>
            </a:r>
            <a:endParaRPr lang="en-US" sz="10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E5E7EB"/>
                </a:solidFill>
              </a:rPr>
              <a:t>Download and archive all cohort materials from the Google Drive folder.</a:t>
            </a:r>
            <a:endParaRPr lang="en-US" sz="10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E5E7EB"/>
                </a:solidFill>
              </a:rPr>
              <a:t>Submit today's daily log with a comprehensive Today's Victory.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02920" y="434340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CA3AF"/>
                </a:solidFill>
              </a:rPr>
              <a:t>Congratulate the cohort. Preview the next 22 days of the full 42-day event protocol.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0B0C"/>
          </a:solidFill>
          <a:ln w="12700">
            <a:solidFill>
              <a:srgbClr val="0B0B0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C26B"/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2B1A12"/>
          </a:solidFill>
          <a:ln w="12700">
            <a:solidFill>
              <a:srgbClr val="2B1A1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0" y="-731520"/>
            <a:ext cx="2194560" cy="2194560"/>
          </a:xfrm>
          <a:prstGeom prst="ellipse">
            <a:avLst/>
          </a:prstGeom>
          <a:solidFill>
            <a:srgbClr val="F5C26B">
              <a:alpha val="12000"/>
            </a:srgbClr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-548640" y="3840480"/>
            <a:ext cx="1645920" cy="1645920"/>
          </a:xfrm>
          <a:prstGeom prst="ellipse">
            <a:avLst/>
          </a:prstGeom>
          <a:solidFill>
            <a:srgbClr val="6F5320">
              <a:alpha val="30000"/>
            </a:srgbClr>
          </a:solidFill>
          <a:ln w="12700">
            <a:solidFill>
              <a:srgbClr val="6F532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20 Complete.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Book Continues.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914400" y="265176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5E7EB"/>
                </a:solidFill>
              </a:rPr>
              <a:t>Keep authoring through Day 42 for your fullest Transformation Book.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E5E7EB"/>
                </a:solidFill>
              </a:rPr>
              <a:t>Contact REJU to compile your legacy.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286000" y="3657600"/>
            <a:ext cx="4572000" cy="502920"/>
          </a:xfrm>
          <a:prstGeom prst="roundRect">
            <a:avLst>
              <a:gd name="adj" fmla="val 18182"/>
            </a:avLst>
          </a:prstGeom>
          <a:solidFill>
            <a:srgbClr val="F5C26B"/>
          </a:solidFill>
          <a:ln w="12700">
            <a:solidFill>
              <a:srgbClr val="F5C2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86000" y="36576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B0C"/>
                </a:solidFill>
              </a:rPr>
              <a:t>Today's Victory — write it now.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REJU Token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REJU 20-Day Cohort Daily Instructions</dc:title>
  <dc:subject>REJU Rejuvenation Event — Cohort Meeting Guide</dc:subject>
  <dc:creator>REJU | Wilson Fischmann CA</dc:creator>
  <cp:lastModifiedBy>REJU | Wilson Fischmann CA</cp:lastModifiedBy>
  <cp:revision>1</cp:revision>
  <dcterms:created xsi:type="dcterms:W3CDTF">2026-06-29T04:53:38Z</dcterms:created>
  <dcterms:modified xsi:type="dcterms:W3CDTF">2026-06-29T04:53:38Z</dcterms:modified>
</cp:coreProperties>
</file>